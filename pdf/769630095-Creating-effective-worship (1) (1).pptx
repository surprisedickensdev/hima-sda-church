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58" r:id="rId4"/>
    <p:sldId id="279" r:id="rId5"/>
    <p:sldId id="259" r:id="rId6"/>
    <p:sldId id="280" r:id="rId7"/>
    <p:sldId id="260" r:id="rId8"/>
    <p:sldId id="271" r:id="rId9"/>
    <p:sldId id="261" r:id="rId10"/>
    <p:sldId id="272" r:id="rId11"/>
    <p:sldId id="262" r:id="rId12"/>
    <p:sldId id="273" r:id="rId13"/>
    <p:sldId id="263" r:id="rId14"/>
    <p:sldId id="264" r:id="rId15"/>
    <p:sldId id="270" r:id="rId16"/>
    <p:sldId id="265" r:id="rId17"/>
    <p:sldId id="266" r:id="rId18"/>
    <p:sldId id="274" r:id="rId19"/>
    <p:sldId id="269" r:id="rId20"/>
    <p:sldId id="268" r:id="rId21"/>
    <p:sldId id="267" r:id="rId22"/>
    <p:sldId id="277" r:id="rId23"/>
    <p:sldId id="276" r:id="rId24"/>
    <p:sldId id="275"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0F89356-9CB1-4536-9729-653ADED9008D}"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F89356-9CB1-4536-9729-653ADED9008D}"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0F89356-9CB1-4536-9729-653ADED9008D}"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0F89356-9CB1-4536-9729-653ADED9008D}" type="datetimeFigureOut">
              <a:rPr lang="en-US" smtClean="0"/>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0F89356-9CB1-4536-9729-653ADED9008D}" type="datetimeFigureOut">
              <a:rPr lang="en-US" smtClean="0"/>
              <a:t>8/16/2024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0F89356-9CB1-4536-9729-653ADED9008D}" type="datetimeFigureOut">
              <a:rPr lang="en-US" smtClean="0"/>
              <a:t>8/16/2024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F89356-9CB1-4536-9729-653ADED9008D}" type="datetimeFigureOut">
              <a:rPr lang="en-US" smtClean="0"/>
              <a:t>8/16/2024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F89356-9CB1-4536-9729-653ADED9008D}" type="datetimeFigureOut">
              <a:rPr lang="en-US" smtClean="0"/>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F89356-9CB1-4536-9729-653ADED9008D}" type="datetimeFigureOut">
              <a:rPr lang="en-US" smtClean="0"/>
              <a:t>8/16/2024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F89356-9CB1-4536-9729-653ADED9008D}"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F89356-9CB1-4536-9729-653ADED9008D}" type="datetimeFigureOut">
              <a:rPr lang="en-US" smtClean="0"/>
              <a:t>8/16/2024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CA487-C966-4690-A102-9F0F7C4E0D6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F89356-9CB1-4536-9729-653ADED9008D}" type="datetimeFigureOut">
              <a:rPr lang="en-US" smtClean="0"/>
              <a:t>8/16/2024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ACA487-C966-4690-A102-9F0F7C4E0D6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biblia.com/bible/esv/Exod%2020.3-5"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hyperlink" Target="https://biblia.com/bible/esv/Exodus%2020.23" TargetMode="External"/><Relationship Id="rId2" Type="http://schemas.openxmlformats.org/officeDocument/2006/relationships/hyperlink" Target="https://biblia.com/bible/esv/Exod%2020.4-6"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biblia.com/bible/esv/John%2017.3" TargetMode="External"/><Relationship Id="rId2" Type="http://schemas.openxmlformats.org/officeDocument/2006/relationships/hyperlink" Target="https://biblia.com/bible/esv/John%203.5-%208"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biblia.com/bible/esv/James%201.27" TargetMode="External"/><Relationship Id="rId2" Type="http://schemas.openxmlformats.org/officeDocument/2006/relationships/hyperlink" Target="https://biblia.com/bible/esv/Matt%2025.34-40"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Master Guide – Adventist Junior Youth"/>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0" y="533400"/>
            <a:ext cx="9144000" cy="1323439"/>
          </a:xfrm>
          <a:prstGeom prst="rect">
            <a:avLst/>
          </a:prstGeom>
        </p:spPr>
        <p:txBody>
          <a:bodyPr wrap="square">
            <a:spAutoFit/>
          </a:bodyPr>
          <a:lstStyle/>
          <a:p>
            <a:pPr algn="ctr"/>
            <a:r>
              <a:rPr lang="en-US" sz="4000" dirty="0" smtClean="0">
                <a:solidFill>
                  <a:srgbClr val="FFFF00"/>
                </a:solidFill>
                <a:latin typeface="Arial Black" pitchFamily="34" charset="0"/>
              </a:rPr>
              <a:t>CREATING EFFECTIVE WORSHIP</a:t>
            </a:r>
            <a:endParaRPr lang="en-US" sz="4000" dirty="0">
              <a:solidFill>
                <a:srgbClr val="FFFF00"/>
              </a:solidFill>
              <a:latin typeface="Arial Black"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22,900+ Family Worship Stock Photos, Pictures &amp; Royalty-Free ..."/>
          <p:cNvPicPr>
            <a:picLocks noChangeAspect="1" noChangeArrowheads="1"/>
          </p:cNvPicPr>
          <p:nvPr/>
        </p:nvPicPr>
        <p:blipFill>
          <a:blip r:embed="rId2" cstate="print"/>
          <a:srcRect/>
          <a:stretch>
            <a:fillRect/>
          </a:stretch>
        </p:blipFill>
        <p:spPr bwMode="auto">
          <a:xfrm>
            <a:off x="0" y="0"/>
            <a:ext cx="9144000" cy="4724400"/>
          </a:xfrm>
          <a:prstGeom prst="rect">
            <a:avLst/>
          </a:prstGeom>
          <a:noFill/>
        </p:spPr>
      </p:pic>
      <p:sp>
        <p:nvSpPr>
          <p:cNvPr id="3" name="TextBox 2"/>
          <p:cNvSpPr txBox="1"/>
          <p:nvPr/>
        </p:nvSpPr>
        <p:spPr>
          <a:xfrm>
            <a:off x="304800" y="5638800"/>
            <a:ext cx="8610600" cy="1015663"/>
          </a:xfrm>
          <a:prstGeom prst="rect">
            <a:avLst/>
          </a:prstGeom>
          <a:noFill/>
        </p:spPr>
        <p:txBody>
          <a:bodyPr wrap="square" rtlCol="0">
            <a:spAutoFit/>
          </a:bodyPr>
          <a:lstStyle/>
          <a:p>
            <a:pPr algn="ctr"/>
            <a:r>
              <a:rPr lang="en-US" sz="6000" dirty="0" smtClean="0">
                <a:solidFill>
                  <a:srgbClr val="0070C0"/>
                </a:solidFill>
                <a:latin typeface="Arial Black" pitchFamily="34" charset="0"/>
              </a:rPr>
              <a:t>What is worship?</a:t>
            </a:r>
            <a:endParaRPr lang="en-US" sz="6000" dirty="0">
              <a:solidFill>
                <a:srgbClr val="0070C0"/>
              </a:solidFill>
              <a:latin typeface="Arial Black"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New&quot; Reflections - Part 4: New Encounters with God"/>
          <p:cNvPicPr>
            <a:picLocks noChangeAspect="1" noChangeArrowheads="1"/>
          </p:cNvPicPr>
          <p:nvPr/>
        </p:nvPicPr>
        <p:blipFill>
          <a:blip r:embed="rId2" cstate="print"/>
          <a:srcRect/>
          <a:stretch>
            <a:fillRect/>
          </a:stretch>
        </p:blipFill>
        <p:spPr bwMode="auto">
          <a:xfrm>
            <a:off x="-78571" y="0"/>
            <a:ext cx="9222571" cy="6858000"/>
          </a:xfrm>
          <a:prstGeom prst="rect">
            <a:avLst/>
          </a:prstGeom>
          <a:noFill/>
        </p:spPr>
      </p:pic>
      <p:sp>
        <p:nvSpPr>
          <p:cNvPr id="3" name="TextBox 2"/>
          <p:cNvSpPr txBox="1"/>
          <p:nvPr/>
        </p:nvSpPr>
        <p:spPr>
          <a:xfrm>
            <a:off x="609600" y="3048000"/>
            <a:ext cx="7924800" cy="3416320"/>
          </a:xfrm>
          <a:prstGeom prst="rect">
            <a:avLst/>
          </a:prstGeom>
          <a:noFill/>
        </p:spPr>
        <p:txBody>
          <a:bodyPr wrap="square" rtlCol="0">
            <a:spAutoFit/>
          </a:bodyPr>
          <a:lstStyle/>
          <a:p>
            <a:r>
              <a:rPr lang="en-US" sz="5400" dirty="0" smtClean="0">
                <a:solidFill>
                  <a:schemeClr val="bg1"/>
                </a:solidFill>
              </a:rPr>
              <a:t>Worship is an encounter with God. Worship is submission to the power of God.</a:t>
            </a:r>
            <a:endParaRPr lang="en-US" sz="54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5 Reasons Why Christians Don't Have To Keep The Sabbath – Christ Leads The  Way"/>
          <p:cNvPicPr>
            <a:picLocks noChangeAspect="1" noChangeArrowheads="1"/>
          </p:cNvPicPr>
          <p:nvPr/>
        </p:nvPicPr>
        <p:blipFill>
          <a:blip r:embed="rId2" cstate="print"/>
          <a:srcRect/>
          <a:stretch>
            <a:fillRect/>
          </a:stretch>
        </p:blipFill>
        <p:spPr bwMode="auto">
          <a:xfrm>
            <a:off x="0" y="-1143000"/>
            <a:ext cx="9144000" cy="5181600"/>
          </a:xfrm>
          <a:prstGeom prst="rect">
            <a:avLst/>
          </a:prstGeom>
          <a:noFill/>
        </p:spPr>
      </p:pic>
      <p:sp>
        <p:nvSpPr>
          <p:cNvPr id="3" name="TextBox 2"/>
          <p:cNvSpPr txBox="1"/>
          <p:nvPr/>
        </p:nvSpPr>
        <p:spPr>
          <a:xfrm>
            <a:off x="0" y="4191000"/>
            <a:ext cx="9144000" cy="2554545"/>
          </a:xfrm>
          <a:prstGeom prst="rect">
            <a:avLst/>
          </a:prstGeom>
          <a:noFill/>
        </p:spPr>
        <p:txBody>
          <a:bodyPr wrap="square" rtlCol="0">
            <a:spAutoFit/>
          </a:bodyPr>
          <a:lstStyle/>
          <a:p>
            <a:r>
              <a:rPr lang="en-US" sz="3200" dirty="0" smtClean="0">
                <a:latin typeface="Arial Black" pitchFamily="34" charset="0"/>
              </a:rPr>
              <a:t>Ezekiel 20:12 “Moreover I also gave them My Sabbaths, to be a sign between them and Me, that they might know that I am the Lord who sanctifies them.”</a:t>
            </a:r>
            <a:endParaRPr lang="en-US" sz="3200" dirty="0">
              <a:latin typeface="Arial Black"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Retunes - What is your personal definition of Worship? | Facebook"/>
          <p:cNvPicPr>
            <a:picLocks noChangeAspect="1" noChangeArrowheads="1"/>
          </p:cNvPicPr>
          <p:nvPr/>
        </p:nvPicPr>
        <p:blipFill>
          <a:blip r:embed="rId2" cstate="print"/>
          <a:srcRect/>
          <a:stretch>
            <a:fillRect/>
          </a:stretch>
        </p:blipFill>
        <p:spPr bwMode="auto">
          <a:xfrm>
            <a:off x="838200" y="0"/>
            <a:ext cx="7391400" cy="74676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63915"/>
            <a:ext cx="9144000" cy="6494085"/>
          </a:xfrm>
          <a:prstGeom prst="rect">
            <a:avLst/>
          </a:prstGeom>
        </p:spPr>
        <p:txBody>
          <a:bodyPr wrap="square">
            <a:spAutoFit/>
          </a:bodyPr>
          <a:lstStyle/>
          <a:p>
            <a:r>
              <a:rPr lang="en-US" sz="3200" dirty="0"/>
              <a:t>For Ellen White the meaning of true worship today should be marked by a </a:t>
            </a:r>
            <a:r>
              <a:rPr lang="en-US" sz="3200" b="1" dirty="0"/>
              <a:t>biblical simplicity and some basic biblical principles.</a:t>
            </a:r>
          </a:p>
          <a:p>
            <a:r>
              <a:rPr lang="en-US" sz="3200" b="1" dirty="0"/>
              <a:t>First, God alone should be the object of worship (</a:t>
            </a:r>
            <a:r>
              <a:rPr lang="en-US" sz="3200" b="1" dirty="0">
                <a:hlinkClick r:id="rId2"/>
              </a:rPr>
              <a:t>Exodus 20:3-5</a:t>
            </a:r>
            <a:r>
              <a:rPr lang="en-US" sz="3200" b="1" dirty="0"/>
              <a:t>;</a:t>
            </a:r>
            <a:r>
              <a:rPr lang="en-US" sz="3200" dirty="0"/>
              <a:t> </a:t>
            </a:r>
            <a:r>
              <a:rPr lang="en-US" sz="3200" i="1" dirty="0"/>
              <a:t>Spiritual Gifts</a:t>
            </a:r>
            <a:r>
              <a:rPr lang="en-US" sz="3200" dirty="0"/>
              <a:t>, vol. 3, p. 269). </a:t>
            </a:r>
            <a:r>
              <a:rPr lang="en-US" sz="3200" b="1" dirty="0">
                <a:solidFill>
                  <a:srgbClr val="002060"/>
                </a:solidFill>
              </a:rPr>
              <a:t>In a world in which not only idols of wood and stone are worshiped, but in which human accomplishments,</a:t>
            </a:r>
            <a:r>
              <a:rPr lang="en-US" sz="3200" dirty="0"/>
              <a:t> </a:t>
            </a:r>
            <a:r>
              <a:rPr lang="en-US" sz="3200" b="1" dirty="0">
                <a:solidFill>
                  <a:srgbClr val="002060"/>
                </a:solidFill>
              </a:rPr>
              <a:t>pride, and money are made gods, </a:t>
            </a:r>
            <a:r>
              <a:rPr lang="en-US" sz="3200" dirty="0"/>
              <a:t>we are reminded that we are to “worship and serve the Lord God, and Him only. [...] </a:t>
            </a:r>
            <a:r>
              <a:rPr lang="en-US" sz="3200" b="1" dirty="0">
                <a:solidFill>
                  <a:srgbClr val="002060"/>
                </a:solidFill>
              </a:rPr>
              <a:t>Anything that is made the subject of undue thought and admiration, absorbing the mind, is a god chosen before the Lord” </a:t>
            </a:r>
            <a:r>
              <a:rPr lang="en-US" sz="3200" dirty="0"/>
              <a:t>(</a:t>
            </a:r>
            <a:r>
              <a:rPr lang="en-US" sz="3200" i="1" dirty="0"/>
              <a:t>Sons and Daughters of God</a:t>
            </a:r>
            <a:r>
              <a:rPr lang="en-US" sz="3200" dirty="0"/>
              <a:t>, p. 56; see also </a:t>
            </a:r>
            <a:r>
              <a:rPr lang="en-US" sz="3200" i="1" dirty="0"/>
              <a:t>Evangelism,</a:t>
            </a:r>
            <a:r>
              <a:rPr lang="en-US" sz="3200" dirty="0"/>
              <a:t> p. 133).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Jarko Luxury Houses, Argoulidhés (updated prices 2024)"/>
          <p:cNvPicPr>
            <a:picLocks noChangeAspect="1" noChangeArrowheads="1"/>
          </p:cNvPicPr>
          <p:nvPr/>
        </p:nvPicPr>
        <p:blipFill>
          <a:blip r:embed="rId2" cstate="print"/>
          <a:srcRect/>
          <a:stretch>
            <a:fillRect/>
          </a:stretch>
        </p:blipFill>
        <p:spPr bwMode="auto">
          <a:xfrm>
            <a:off x="0" y="0"/>
            <a:ext cx="4572000" cy="3429000"/>
          </a:xfrm>
          <a:prstGeom prst="rect">
            <a:avLst/>
          </a:prstGeom>
          <a:noFill/>
        </p:spPr>
      </p:pic>
      <p:pic>
        <p:nvPicPr>
          <p:cNvPr id="17412" name="Picture 4" descr="iPhone 15 Pro Max – Full Specs and Official Price in the Philippines"/>
          <p:cNvPicPr>
            <a:picLocks noChangeAspect="1" noChangeArrowheads="1"/>
          </p:cNvPicPr>
          <p:nvPr/>
        </p:nvPicPr>
        <p:blipFill>
          <a:blip r:embed="rId3" cstate="print"/>
          <a:srcRect/>
          <a:stretch>
            <a:fillRect/>
          </a:stretch>
        </p:blipFill>
        <p:spPr bwMode="auto">
          <a:xfrm>
            <a:off x="-685800" y="3429000"/>
            <a:ext cx="4648200" cy="3429000"/>
          </a:xfrm>
          <a:prstGeom prst="rect">
            <a:avLst/>
          </a:prstGeom>
          <a:noFill/>
        </p:spPr>
      </p:pic>
      <p:pic>
        <p:nvPicPr>
          <p:cNvPr id="17414" name="Picture 6" descr="Exciting Mobile Games Still to Look Forward to in 2019 - GameSpace.com"/>
          <p:cNvPicPr>
            <a:picLocks noChangeAspect="1" noChangeArrowheads="1"/>
          </p:cNvPicPr>
          <p:nvPr/>
        </p:nvPicPr>
        <p:blipFill>
          <a:blip r:embed="rId4" cstate="print"/>
          <a:srcRect/>
          <a:stretch>
            <a:fillRect/>
          </a:stretch>
        </p:blipFill>
        <p:spPr bwMode="auto">
          <a:xfrm>
            <a:off x="2286000" y="2590800"/>
            <a:ext cx="3657599" cy="2438400"/>
          </a:xfrm>
          <a:prstGeom prst="rect">
            <a:avLst/>
          </a:prstGeom>
          <a:noFill/>
        </p:spPr>
      </p:pic>
      <p:pic>
        <p:nvPicPr>
          <p:cNvPr id="17416" name="Picture 8" descr="35 Of The Most Beautiful Dresses At Paris Fashion Week | HuffPost Life"/>
          <p:cNvPicPr>
            <a:picLocks noChangeAspect="1" noChangeArrowheads="1"/>
          </p:cNvPicPr>
          <p:nvPr/>
        </p:nvPicPr>
        <p:blipFill>
          <a:blip r:embed="rId5" cstate="print"/>
          <a:srcRect/>
          <a:stretch>
            <a:fillRect/>
          </a:stretch>
        </p:blipFill>
        <p:spPr bwMode="auto">
          <a:xfrm>
            <a:off x="4668566" y="228600"/>
            <a:ext cx="4475434" cy="2514600"/>
          </a:xfrm>
          <a:prstGeom prst="rect">
            <a:avLst/>
          </a:prstGeom>
          <a:noFill/>
        </p:spPr>
      </p:pic>
      <p:pic>
        <p:nvPicPr>
          <p:cNvPr id="17418" name="Picture 10" descr="4,379,600+ Beauty Face Stock Photos, Pictures &amp; Royalty-Free Images -  iStock | Beautiful skin, Mature beauty face, Beauty"/>
          <p:cNvPicPr>
            <a:picLocks noChangeAspect="1" noChangeArrowheads="1"/>
          </p:cNvPicPr>
          <p:nvPr/>
        </p:nvPicPr>
        <p:blipFill>
          <a:blip r:embed="rId6" cstate="print"/>
          <a:srcRect/>
          <a:stretch>
            <a:fillRect/>
          </a:stretch>
        </p:blipFill>
        <p:spPr bwMode="auto">
          <a:xfrm>
            <a:off x="5669756" y="2819400"/>
            <a:ext cx="3474244" cy="2316163"/>
          </a:xfrm>
          <a:prstGeom prst="rect">
            <a:avLst/>
          </a:prstGeom>
          <a:noFill/>
        </p:spPr>
      </p:pic>
      <p:pic>
        <p:nvPicPr>
          <p:cNvPr id="17420" name="Picture 12" descr="All About Work | Mikaela Media"/>
          <p:cNvPicPr>
            <a:picLocks noChangeAspect="1" noChangeArrowheads="1"/>
          </p:cNvPicPr>
          <p:nvPr/>
        </p:nvPicPr>
        <p:blipFill>
          <a:blip r:embed="rId7" cstate="print"/>
          <a:srcRect/>
          <a:stretch>
            <a:fillRect/>
          </a:stretch>
        </p:blipFill>
        <p:spPr bwMode="auto">
          <a:xfrm>
            <a:off x="2438400" y="5114924"/>
            <a:ext cx="2619375" cy="1743076"/>
          </a:xfrm>
          <a:prstGeom prst="rect">
            <a:avLst/>
          </a:prstGeom>
          <a:noFill/>
        </p:spPr>
      </p:pic>
      <p:pic>
        <p:nvPicPr>
          <p:cNvPr id="17422" name="Picture 14" descr="Ambition - What is it Really? — Steemit"/>
          <p:cNvPicPr>
            <a:picLocks noChangeAspect="1" noChangeArrowheads="1"/>
          </p:cNvPicPr>
          <p:nvPr/>
        </p:nvPicPr>
        <p:blipFill>
          <a:blip r:embed="rId8" cstate="print"/>
          <a:srcRect/>
          <a:stretch>
            <a:fillRect/>
          </a:stretch>
        </p:blipFill>
        <p:spPr bwMode="auto">
          <a:xfrm>
            <a:off x="5638800" y="5114924"/>
            <a:ext cx="3505200" cy="174307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63417"/>
          </a:xfrm>
          <a:prstGeom prst="rect">
            <a:avLst/>
          </a:prstGeom>
        </p:spPr>
        <p:txBody>
          <a:bodyPr wrap="square">
            <a:spAutoFit/>
          </a:bodyPr>
          <a:lstStyle/>
          <a:p>
            <a:r>
              <a:rPr lang="en-US" b="1" dirty="0"/>
              <a:t> </a:t>
            </a:r>
            <a:r>
              <a:rPr lang="en-US" sz="4000" b="1" dirty="0"/>
              <a:t>second</a:t>
            </a:r>
            <a:r>
              <a:rPr lang="en-US" sz="4000" dirty="0"/>
              <a:t> biblical principle underlines the futility of exterior forms of worship deprived of biblical meaning and foundation (</a:t>
            </a:r>
            <a:r>
              <a:rPr lang="en-US" sz="4000" dirty="0">
                <a:hlinkClick r:id="rId2"/>
              </a:rPr>
              <a:t>Exodus 20:4-6</a:t>
            </a:r>
            <a:r>
              <a:rPr lang="en-US" sz="4000" dirty="0"/>
              <a:t>, </a:t>
            </a:r>
            <a:r>
              <a:rPr lang="en-US" sz="4000" dirty="0">
                <a:hlinkClick r:id="rId3"/>
              </a:rPr>
              <a:t>23</a:t>
            </a:r>
            <a:r>
              <a:rPr lang="en-US" sz="4000" dirty="0"/>
              <a:t>). </a:t>
            </a:r>
            <a:r>
              <a:rPr lang="en-US" sz="4000" b="1" dirty="0">
                <a:solidFill>
                  <a:srgbClr val="002060"/>
                </a:solidFill>
              </a:rPr>
              <a:t>Today, many are tempted to look upon “</a:t>
            </a:r>
            <a:r>
              <a:rPr lang="en-US" sz="4000" b="1" u="sng" dirty="0">
                <a:solidFill>
                  <a:srgbClr val="002060"/>
                </a:solidFill>
              </a:rPr>
              <a:t>outward forms</a:t>
            </a:r>
            <a:r>
              <a:rPr lang="en-US" sz="4000" b="1" dirty="0">
                <a:solidFill>
                  <a:srgbClr val="002060"/>
                </a:solidFill>
              </a:rPr>
              <a:t>” </a:t>
            </a:r>
            <a:r>
              <a:rPr lang="en-US" sz="4000" dirty="0"/>
              <a:t>and </a:t>
            </a:r>
            <a:r>
              <a:rPr lang="en-US" sz="4000" b="1" u="sng" dirty="0">
                <a:solidFill>
                  <a:srgbClr val="002060"/>
                </a:solidFill>
              </a:rPr>
              <a:t>ceremonies</a:t>
            </a:r>
            <a:r>
              <a:rPr lang="en-US" sz="4000" dirty="0"/>
              <a:t> as sufficient indicators of true worship (</a:t>
            </a:r>
            <a:r>
              <a:rPr lang="en-US" sz="4000" i="1" dirty="0"/>
              <a:t>Ye Shall Receive Power</a:t>
            </a:r>
            <a:r>
              <a:rPr lang="en-US" sz="4000" dirty="0"/>
              <a:t>, p. 48). </a:t>
            </a:r>
            <a:r>
              <a:rPr lang="en-US" sz="4000" b="1" dirty="0">
                <a:solidFill>
                  <a:srgbClr val="002060"/>
                </a:solidFill>
              </a:rPr>
              <a:t>For Ellen White, however, such “cannot be substituted for </a:t>
            </a:r>
            <a:r>
              <a:rPr lang="en-US" sz="4000" b="1" u="sng" dirty="0">
                <a:solidFill>
                  <a:srgbClr val="002060"/>
                </a:solidFill>
              </a:rPr>
              <a:t>inward piety” and obedience to Christ</a:t>
            </a:r>
            <a:r>
              <a:rPr lang="en-US" sz="4000" dirty="0"/>
              <a:t> (BE, June 1, 1887).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Partial Obedience is not Obedience – Fearless Living"/>
          <p:cNvPicPr>
            <a:picLocks noChangeAspect="1" noChangeArrowheads="1"/>
          </p:cNvPicPr>
          <p:nvPr/>
        </p:nvPicPr>
        <p:blipFill>
          <a:blip r:embed="rId2" cstate="print"/>
          <a:srcRect/>
          <a:stretch>
            <a:fillRect/>
          </a:stretch>
        </p:blipFill>
        <p:spPr bwMode="auto">
          <a:xfrm>
            <a:off x="762000" y="3810000"/>
            <a:ext cx="7848600" cy="3048000"/>
          </a:xfrm>
          <a:prstGeom prst="rect">
            <a:avLst/>
          </a:prstGeom>
          <a:noFill/>
        </p:spPr>
      </p:pic>
      <p:pic>
        <p:nvPicPr>
          <p:cNvPr id="29700" name="Picture 4" descr="Religious Doctrines Are Self-Contradictory"/>
          <p:cNvPicPr>
            <a:picLocks noChangeAspect="1" noChangeArrowheads="1"/>
          </p:cNvPicPr>
          <p:nvPr/>
        </p:nvPicPr>
        <p:blipFill>
          <a:blip r:embed="rId3" cstate="print"/>
          <a:srcRect/>
          <a:stretch>
            <a:fillRect/>
          </a:stretch>
        </p:blipFill>
        <p:spPr bwMode="auto">
          <a:xfrm>
            <a:off x="1066800" y="0"/>
            <a:ext cx="7162800" cy="32004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9144000" cy="6186309"/>
          </a:xfrm>
          <a:prstGeom prst="rect">
            <a:avLst/>
          </a:prstGeom>
        </p:spPr>
        <p:txBody>
          <a:bodyPr wrap="square">
            <a:spAutoFit/>
          </a:bodyPr>
          <a:lstStyle/>
          <a:p>
            <a:r>
              <a:rPr lang="en-US" sz="4400" dirty="0"/>
              <a:t>Jesus explained that the </a:t>
            </a:r>
            <a:r>
              <a:rPr lang="en-US" sz="4400" b="1" dirty="0">
                <a:solidFill>
                  <a:srgbClr val="002060"/>
                </a:solidFill>
              </a:rPr>
              <a:t>spiritual renewal occasioned by the new birth experience is essential in true worship </a:t>
            </a:r>
            <a:r>
              <a:rPr lang="en-US" sz="4400" dirty="0"/>
              <a:t>(</a:t>
            </a:r>
            <a:r>
              <a:rPr lang="en-US" sz="4400" dirty="0">
                <a:hlinkClick r:id="rId2"/>
              </a:rPr>
              <a:t>John 3:5- 8</a:t>
            </a:r>
            <a:r>
              <a:rPr lang="en-US" sz="4400" dirty="0"/>
              <a:t>; DA 189). </a:t>
            </a:r>
            <a:r>
              <a:rPr lang="en-US" sz="4400" b="1" dirty="0">
                <a:solidFill>
                  <a:srgbClr val="002060"/>
                </a:solidFill>
              </a:rPr>
              <a:t>True worship is thus the fruit of the work of the Holy Spirit upon a person’s life; </a:t>
            </a:r>
            <a:r>
              <a:rPr lang="en-US" sz="4400" dirty="0"/>
              <a:t>it is the result of conversion and inspired by a “true knowledge of Jesus Christ” (</a:t>
            </a:r>
            <a:r>
              <a:rPr lang="en-US" sz="4400" dirty="0">
                <a:hlinkClick r:id="rId3"/>
              </a:rPr>
              <a:t>John 17:3</a:t>
            </a:r>
            <a:r>
              <a:rPr lang="en-US" sz="4400" dirty="0"/>
              <a:t>; </a:t>
            </a:r>
            <a:r>
              <a:rPr lang="en-US" sz="4400" i="1" dirty="0"/>
              <a:t>Medical Ministry</a:t>
            </a:r>
            <a:r>
              <a:rPr lang="en-US" sz="4400" dirty="0"/>
              <a:t>, p. 112).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6" name="Picture 6" descr="Bulk 48 Pc. Mini Fruit of the Spirit Buttons | Oriental Trading"/>
          <p:cNvPicPr>
            <a:picLocks noChangeAspect="1" noChangeArrowheads="1"/>
          </p:cNvPicPr>
          <p:nvPr/>
        </p:nvPicPr>
        <p:blipFill>
          <a:blip r:embed="rId2" cstate="print"/>
          <a:srcRect/>
          <a:stretch>
            <a:fillRect/>
          </a:stretch>
        </p:blipFill>
        <p:spPr bwMode="auto">
          <a:xfrm>
            <a:off x="0" y="0"/>
            <a:ext cx="4572000" cy="6858000"/>
          </a:xfrm>
          <a:prstGeom prst="rect">
            <a:avLst/>
          </a:prstGeom>
          <a:noFill/>
        </p:spPr>
      </p:pic>
      <p:pic>
        <p:nvPicPr>
          <p:cNvPr id="30730" name="Picture 10" descr="GALATIANS (31): The Works of the Flesh - Part 1 (Galatians 5:19-20)"/>
          <p:cNvPicPr>
            <a:picLocks noChangeAspect="1" noChangeArrowheads="1"/>
          </p:cNvPicPr>
          <p:nvPr/>
        </p:nvPicPr>
        <p:blipFill>
          <a:blip r:embed="rId3" cstate="print"/>
          <a:srcRect/>
          <a:stretch>
            <a:fillRect/>
          </a:stretch>
        </p:blipFill>
        <p:spPr bwMode="auto">
          <a:xfrm>
            <a:off x="4419600" y="-1143000"/>
            <a:ext cx="4724400" cy="89154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295400"/>
            <a:ext cx="8763000" cy="3970318"/>
          </a:xfrm>
          <a:prstGeom prst="rect">
            <a:avLst/>
          </a:prstGeom>
        </p:spPr>
        <p:txBody>
          <a:bodyPr wrap="square">
            <a:spAutoFit/>
          </a:bodyPr>
          <a:lstStyle/>
          <a:p>
            <a:r>
              <a:rPr lang="en-US" sz="3600" dirty="0"/>
              <a:t>A </a:t>
            </a:r>
            <a:r>
              <a:rPr lang="en-US" sz="3600" b="1" dirty="0"/>
              <a:t>fourth</a:t>
            </a:r>
            <a:r>
              <a:rPr lang="en-US" sz="3600" dirty="0"/>
              <a:t> biblical principle highlights the </a:t>
            </a:r>
            <a:r>
              <a:rPr lang="en-US" sz="3600" b="1" dirty="0">
                <a:solidFill>
                  <a:srgbClr val="002060"/>
                </a:solidFill>
              </a:rPr>
              <a:t>close relationship between worship and obedience to God’s will.</a:t>
            </a:r>
            <a:r>
              <a:rPr lang="en-US" sz="3600" dirty="0"/>
              <a:t> </a:t>
            </a:r>
            <a:r>
              <a:rPr lang="en-US" sz="3600" b="1" dirty="0">
                <a:solidFill>
                  <a:srgbClr val="002060"/>
                </a:solidFill>
              </a:rPr>
              <a:t>Genuine worship cannot be separated from a genuine Christian life. “True worship consists in working together with Christ”</a:t>
            </a:r>
            <a:r>
              <a:rPr lang="en-US" sz="3600" dirty="0"/>
              <a:t> (</a:t>
            </a:r>
            <a:r>
              <a:rPr lang="en-US" sz="3600" dirty="0">
                <a:hlinkClick r:id="rId2"/>
              </a:rPr>
              <a:t>Matthew 25:34-40</a:t>
            </a:r>
            <a:r>
              <a:rPr lang="en-US" sz="3600" dirty="0"/>
              <a:t>; </a:t>
            </a:r>
            <a:r>
              <a:rPr lang="en-US" sz="3600" dirty="0">
                <a:hlinkClick r:id="rId3"/>
              </a:rPr>
              <a:t>James 1:27</a:t>
            </a:r>
            <a:r>
              <a:rPr lang="en-US" sz="3600" dirty="0"/>
              <a:t>; RH, August 16, 1881).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90600"/>
            <a:ext cx="9144000" cy="5632311"/>
          </a:xfrm>
          <a:prstGeom prst="rect">
            <a:avLst/>
          </a:prstGeom>
        </p:spPr>
        <p:txBody>
          <a:bodyPr wrap="square">
            <a:spAutoFit/>
          </a:bodyPr>
          <a:lstStyle/>
          <a:p>
            <a:r>
              <a:rPr lang="en-US" sz="4000" dirty="0"/>
              <a:t>Ellen White’s foremost concern which shaped her counsels on worship was </a:t>
            </a:r>
            <a:r>
              <a:rPr lang="en-US" sz="4000" b="1" dirty="0">
                <a:solidFill>
                  <a:srgbClr val="002060"/>
                </a:solidFill>
              </a:rPr>
              <a:t>to help Christians be ready to “</a:t>
            </a:r>
            <a:r>
              <a:rPr lang="en-US" sz="4000" b="1" u="sng" dirty="0">
                <a:solidFill>
                  <a:srgbClr val="002060"/>
                </a:solidFill>
              </a:rPr>
              <a:t>appreciate a pure and holy heaven</a:t>
            </a:r>
            <a:r>
              <a:rPr lang="en-US" sz="4000" b="1" dirty="0">
                <a:solidFill>
                  <a:srgbClr val="002060"/>
                </a:solidFill>
              </a:rPr>
              <a:t>, and </a:t>
            </a:r>
            <a:r>
              <a:rPr lang="en-US" sz="4000" b="1" u="sng" dirty="0">
                <a:solidFill>
                  <a:srgbClr val="002060"/>
                </a:solidFill>
              </a:rPr>
              <a:t>be prepared to join with the worshipers in the heavenly courts above</a:t>
            </a:r>
            <a:r>
              <a:rPr lang="en-US" sz="4000" b="1" dirty="0">
                <a:solidFill>
                  <a:srgbClr val="002060"/>
                </a:solidFill>
              </a:rPr>
              <a:t>, where </a:t>
            </a:r>
            <a:r>
              <a:rPr lang="en-US" sz="4000" b="1" u="sng" dirty="0">
                <a:solidFill>
                  <a:srgbClr val="002060"/>
                </a:solidFill>
              </a:rPr>
              <a:t>all is purity and perfection</a:t>
            </a:r>
            <a:r>
              <a:rPr lang="en-US" sz="4000" b="1" dirty="0">
                <a:solidFill>
                  <a:srgbClr val="002060"/>
                </a:solidFill>
              </a:rPr>
              <a:t>, where every being has </a:t>
            </a:r>
            <a:r>
              <a:rPr lang="en-US" sz="4000" b="1" u="sng" dirty="0">
                <a:solidFill>
                  <a:srgbClr val="002060"/>
                </a:solidFill>
              </a:rPr>
              <a:t>perfect reverence for God and His holiness</a:t>
            </a:r>
            <a:r>
              <a:rPr lang="en-US" sz="4000" b="1" dirty="0">
                <a:solidFill>
                  <a:srgbClr val="002060"/>
                </a:solidFill>
              </a:rPr>
              <a:t>” (</a:t>
            </a:r>
            <a:r>
              <a:rPr lang="en-US" sz="4000" dirty="0"/>
              <a:t>5T 500).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descr="Isaiah 6:2 Above Him stood seraphim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8436" name="Picture 4" descr="Isaiah 6:2 Above Him stood seraphim, each having six wings: With two wings  they covered their faces, with two they covered their feet, and with two  they were flyin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533400"/>
            <a:ext cx="8991600" cy="5078313"/>
          </a:xfrm>
          <a:prstGeom prst="rect">
            <a:avLst/>
          </a:prstGeom>
        </p:spPr>
        <p:txBody>
          <a:bodyPr wrap="square">
            <a:spAutoFit/>
          </a:bodyPr>
          <a:lstStyle/>
          <a:p>
            <a:pPr>
              <a:buFont typeface="Arial" pitchFamily="34" charset="0"/>
              <a:buChar char="•"/>
            </a:pPr>
            <a:r>
              <a:rPr lang="en-US" sz="5400" b="1" dirty="0" smtClean="0">
                <a:solidFill>
                  <a:srgbClr val="002060"/>
                </a:solidFill>
              </a:rPr>
              <a:t>Worship produces changes in us</a:t>
            </a:r>
            <a:r>
              <a:rPr lang="en-US" sz="5400" dirty="0" smtClean="0"/>
              <a:t>. </a:t>
            </a:r>
          </a:p>
          <a:p>
            <a:pPr>
              <a:buFont typeface="Arial" pitchFamily="34" charset="0"/>
              <a:buChar char="•"/>
            </a:pPr>
            <a:r>
              <a:rPr lang="en-US" sz="5400" b="1" dirty="0">
                <a:solidFill>
                  <a:srgbClr val="002060"/>
                </a:solidFill>
              </a:rPr>
              <a:t>M</a:t>
            </a:r>
            <a:r>
              <a:rPr lang="en-US" sz="5400" b="1" dirty="0" smtClean="0">
                <a:solidFill>
                  <a:srgbClr val="002060"/>
                </a:solidFill>
              </a:rPr>
              <a:t>akes us aware of our personal need</a:t>
            </a:r>
            <a:r>
              <a:rPr lang="en-US" sz="5400" dirty="0" smtClean="0"/>
              <a:t>, </a:t>
            </a:r>
            <a:r>
              <a:rPr lang="en-US" sz="5400" b="1" dirty="0">
                <a:solidFill>
                  <a:srgbClr val="002060"/>
                </a:solidFill>
              </a:rPr>
              <a:t>S</a:t>
            </a:r>
            <a:r>
              <a:rPr lang="en-US" sz="5400" b="1" dirty="0" smtClean="0">
                <a:solidFill>
                  <a:srgbClr val="002060"/>
                </a:solidFill>
              </a:rPr>
              <a:t>trengthens our faith</a:t>
            </a:r>
          </a:p>
          <a:p>
            <a:pPr>
              <a:buFont typeface="Arial" pitchFamily="34" charset="0"/>
              <a:buChar char="•"/>
            </a:pPr>
            <a:r>
              <a:rPr lang="en-US" sz="5400" b="1" dirty="0">
                <a:solidFill>
                  <a:srgbClr val="002060"/>
                </a:solidFill>
              </a:rPr>
              <a:t>P</a:t>
            </a:r>
            <a:r>
              <a:rPr lang="en-US" sz="5400" b="1" dirty="0" smtClean="0">
                <a:solidFill>
                  <a:srgbClr val="002060"/>
                </a:solidFill>
              </a:rPr>
              <a:t>rovides spiritual power</a:t>
            </a:r>
            <a:endParaRPr lang="en-US" sz="5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839200" cy="5632311"/>
          </a:xfrm>
          <a:prstGeom prst="rect">
            <a:avLst/>
          </a:prstGeom>
        </p:spPr>
        <p:txBody>
          <a:bodyPr wrap="square">
            <a:spAutoFit/>
          </a:bodyPr>
          <a:lstStyle/>
          <a:p>
            <a:r>
              <a:rPr lang="en-US" sz="4800" dirty="0" smtClean="0"/>
              <a:t>Worship includes:</a:t>
            </a:r>
          </a:p>
          <a:p>
            <a:r>
              <a:rPr lang="en-US" sz="4800" dirty="0" smtClean="0"/>
              <a:t> God’s Word, </a:t>
            </a:r>
          </a:p>
          <a:p>
            <a:pPr>
              <a:buFont typeface="Arial" pitchFamily="34" charset="0"/>
              <a:buChar char="•"/>
            </a:pPr>
            <a:r>
              <a:rPr lang="en-US" sz="4400" dirty="0" smtClean="0"/>
              <a:t>prayer</a:t>
            </a:r>
          </a:p>
          <a:p>
            <a:pPr>
              <a:buFont typeface="Arial" pitchFamily="34" charset="0"/>
              <a:buChar char="•"/>
            </a:pPr>
            <a:r>
              <a:rPr lang="en-US" sz="4400" dirty="0" smtClean="0"/>
              <a:t>praise </a:t>
            </a:r>
          </a:p>
          <a:p>
            <a:pPr>
              <a:buFont typeface="Arial" pitchFamily="34" charset="0"/>
              <a:buChar char="•"/>
            </a:pPr>
            <a:r>
              <a:rPr lang="en-US" sz="4400" dirty="0" smtClean="0"/>
              <a:t>Music</a:t>
            </a:r>
          </a:p>
          <a:p>
            <a:pPr>
              <a:buFont typeface="Arial" pitchFamily="34" charset="0"/>
              <a:buChar char="•"/>
            </a:pPr>
            <a:r>
              <a:rPr lang="en-US" sz="4400" dirty="0" smtClean="0"/>
              <a:t>bringing back </a:t>
            </a:r>
          </a:p>
          <a:p>
            <a:pPr>
              <a:buFont typeface="Arial" pitchFamily="34" charset="0"/>
              <a:buChar char="•"/>
            </a:pPr>
            <a:r>
              <a:rPr lang="en-US" sz="4400" dirty="0" smtClean="0"/>
              <a:t>devotional inspiration </a:t>
            </a:r>
          </a:p>
          <a:p>
            <a:pPr>
              <a:buFont typeface="Arial" pitchFamily="34" charset="0"/>
              <a:buChar char="•"/>
            </a:pPr>
            <a:r>
              <a:rPr lang="en-US" sz="4400" dirty="0" smtClean="0"/>
              <a:t>emotional response of commitment.</a:t>
            </a:r>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3200400"/>
            <a:ext cx="8534400" cy="3416320"/>
          </a:xfrm>
          <a:prstGeom prst="rect">
            <a:avLst/>
          </a:prstGeom>
        </p:spPr>
        <p:txBody>
          <a:bodyPr wrap="square">
            <a:spAutoFit/>
          </a:bodyPr>
          <a:lstStyle/>
          <a:p>
            <a:r>
              <a:rPr lang="en-US" sz="3600" dirty="0" smtClean="0"/>
              <a:t>“</a:t>
            </a:r>
            <a:r>
              <a:rPr lang="en-US" sz="3600" b="1" dirty="0" smtClean="0">
                <a:solidFill>
                  <a:srgbClr val="002060"/>
                </a:solidFill>
              </a:rPr>
              <a:t>Prayer is the opening of the heart to God as to a friend</a:t>
            </a:r>
            <a:r>
              <a:rPr lang="en-US" sz="3600" dirty="0" smtClean="0"/>
              <a:t>. Not that it is necessary in order to make known to God what we are, but in order to enable us to receive Him. Prayer does not bring God down to us, but brings us up to Him.” (Steps to Christ, 93). </a:t>
            </a:r>
            <a:endParaRPr lang="en-US" sz="3600" dirty="0"/>
          </a:p>
        </p:txBody>
      </p:sp>
      <p:pic>
        <p:nvPicPr>
          <p:cNvPr id="31746" name="Picture 2" descr="Pray For Your Men By Name - Church Growth Magazine"/>
          <p:cNvPicPr>
            <a:picLocks noChangeAspect="1" noChangeArrowheads="1"/>
          </p:cNvPicPr>
          <p:nvPr/>
        </p:nvPicPr>
        <p:blipFill>
          <a:blip r:embed="rId2" cstate="print"/>
          <a:srcRect/>
          <a:stretch>
            <a:fillRect/>
          </a:stretch>
        </p:blipFill>
        <p:spPr bwMode="auto">
          <a:xfrm>
            <a:off x="1371600" y="381000"/>
            <a:ext cx="6049548" cy="2902594"/>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678751"/>
          </a:xfrm>
          <a:prstGeom prst="rect">
            <a:avLst/>
          </a:prstGeom>
        </p:spPr>
        <p:txBody>
          <a:bodyPr wrap="square">
            <a:spAutoFit/>
          </a:bodyPr>
          <a:lstStyle/>
          <a:p>
            <a:pPr algn="ctr"/>
            <a:r>
              <a:rPr lang="en-US" sz="2400" b="1" dirty="0" smtClean="0">
                <a:solidFill>
                  <a:srgbClr val="002060"/>
                </a:solidFill>
              </a:rPr>
              <a:t>PRINCIPLES OF MUSIC IN CHRISTIAN WORSHIP </a:t>
            </a:r>
          </a:p>
          <a:p>
            <a:pPr algn="ctr"/>
            <a:endParaRPr lang="en-US" sz="2400" dirty="0" smtClean="0"/>
          </a:p>
          <a:p>
            <a:pPr marL="342900" indent="-342900">
              <a:buAutoNum type="arabicPeriod"/>
            </a:pPr>
            <a:r>
              <a:rPr lang="en-US" sz="2000" b="1" dirty="0" smtClean="0"/>
              <a:t>Worship music should reflect both God’s exalted character (His transcendence) and His gracious closeness to humankind (His immanence</a:t>
            </a:r>
            <a:r>
              <a:rPr lang="en-US" sz="2000" dirty="0" smtClean="0"/>
              <a:t>). Its expression is to avoid the fallen secular, selfish, and sensual. </a:t>
            </a:r>
          </a:p>
          <a:p>
            <a:pPr marL="342900" indent="-342900"/>
            <a:endParaRPr lang="en-US" sz="2000" dirty="0" smtClean="0"/>
          </a:p>
          <a:p>
            <a:r>
              <a:rPr lang="en-US" sz="2000" b="1" dirty="0" smtClean="0"/>
              <a:t>2 Worship music should serve faithfully the teaching of God’s Word. </a:t>
            </a:r>
            <a:r>
              <a:rPr lang="en-US" sz="2000" dirty="0" smtClean="0"/>
              <a:t>It should have a clear witness to Scriptural doctrine avoiding false theology. </a:t>
            </a:r>
          </a:p>
          <a:p>
            <a:endParaRPr lang="en-US" sz="2000" dirty="0"/>
          </a:p>
          <a:p>
            <a:r>
              <a:rPr lang="en-US" sz="2000" b="1" dirty="0" smtClean="0"/>
              <a:t>3. Issues in worship music are informed by essential, yet general, contexts from Scripture</a:t>
            </a:r>
            <a:r>
              <a:rPr lang="en-US" sz="2000" dirty="0" smtClean="0"/>
              <a:t>.</a:t>
            </a:r>
          </a:p>
          <a:p>
            <a:r>
              <a:rPr lang="en-US" sz="2000" dirty="0" smtClean="0"/>
              <a:t> </a:t>
            </a:r>
          </a:p>
          <a:p>
            <a:r>
              <a:rPr lang="en-US" sz="2000" b="1" dirty="0" smtClean="0"/>
              <a:t>4. Worship music communicates generally-understood meaning that makes it appropriate or inappropriate for worship. </a:t>
            </a:r>
          </a:p>
          <a:p>
            <a:endParaRPr lang="en-US" sz="2000" dirty="0" smtClean="0"/>
          </a:p>
          <a:p>
            <a:r>
              <a:rPr lang="en-US" sz="2000" b="1" dirty="0" smtClean="0"/>
              <a:t>5. The message’s meaning includes musical style, presentation, and instrumentation. </a:t>
            </a:r>
          </a:p>
          <a:p>
            <a:r>
              <a:rPr lang="en-US" sz="2000" dirty="0" smtClean="0"/>
              <a:t>These are essential parts of the meaning, not neutral. Godly discernment identifies </a:t>
            </a:r>
            <a:r>
              <a:rPr lang="en-US" sz="2000" b="1" dirty="0" smtClean="0">
                <a:solidFill>
                  <a:srgbClr val="002060"/>
                </a:solidFill>
              </a:rPr>
              <a:t>fallen secular elements</a:t>
            </a:r>
            <a:r>
              <a:rPr lang="en-US" sz="2000" dirty="0" smtClean="0"/>
              <a:t> </a:t>
            </a:r>
            <a:r>
              <a:rPr lang="en-US" sz="2000" b="1" dirty="0" smtClean="0"/>
              <a:t>in musical style, presentation</a:t>
            </a:r>
            <a:r>
              <a:rPr lang="en-US" sz="2000" dirty="0" smtClean="0"/>
              <a:t>, and </a:t>
            </a:r>
            <a:r>
              <a:rPr lang="en-US" sz="2000" b="1" dirty="0" smtClean="0"/>
              <a:t>instrumentation </a:t>
            </a:r>
            <a:r>
              <a:rPr lang="en-US" sz="2000" dirty="0" smtClean="0"/>
              <a:t>around us. This discernment must help us to know what musical elements to avoid using in worshiping the holy God. e. </a:t>
            </a:r>
          </a:p>
          <a:p>
            <a:r>
              <a:rPr lang="en-US" sz="2000" b="1" dirty="0" smtClean="0"/>
              <a:t>6. Worship music ultimately should proclaim God’s good news</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458200" cy="5324535"/>
          </a:xfrm>
          <a:prstGeom prst="rect">
            <a:avLst/>
          </a:prstGeom>
        </p:spPr>
        <p:txBody>
          <a:bodyPr wrap="square">
            <a:spAutoFit/>
          </a:bodyPr>
          <a:lstStyle/>
          <a:p>
            <a:r>
              <a:rPr lang="en-US" sz="3200" b="1" dirty="0" smtClean="0"/>
              <a:t>Youth </a:t>
            </a:r>
            <a:r>
              <a:rPr lang="en-US" sz="2800" dirty="0" smtClean="0"/>
              <a:t>need to </a:t>
            </a:r>
            <a:r>
              <a:rPr lang="en-US" sz="2800" b="1" dirty="0" smtClean="0"/>
              <a:t>experience profound, time-honored worship expressions in edifying ways</a:t>
            </a:r>
            <a:r>
              <a:rPr lang="en-US" sz="2800" dirty="0" smtClean="0"/>
              <a:t>, along with fresh expressions originating in our time. Worship music of heritage traditions and of contemporary expressions should be chosen using Scripture as their consistent standard.  In worship-music choices, deferring to one another in love is essential for </a:t>
            </a:r>
            <a:r>
              <a:rPr lang="en-US" sz="2800" dirty="0" err="1" smtClean="0"/>
              <a:t>upbuilding</a:t>
            </a:r>
            <a:r>
              <a:rPr lang="en-US" sz="2800" dirty="0" smtClean="0"/>
              <a:t> the church as Christ’s body while maintaining faithful witness to God. Worship music choices should exemplify the wholesome best that is reasonable and possible in a given worship context. </a:t>
            </a:r>
            <a:r>
              <a:rPr lang="en-US" sz="2800" b="1" dirty="0" smtClean="0">
                <a:solidFill>
                  <a:srgbClr val="002060"/>
                </a:solidFill>
              </a:rPr>
              <a:t>The experience of worship music should involve active participation by many. </a:t>
            </a:r>
            <a:endParaRPr lang="en-US" sz="2800" b="1" dirty="0">
              <a:solidFill>
                <a:srgbClr val="00206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33246"/>
            <a:ext cx="8610600" cy="6124754"/>
          </a:xfrm>
          <a:prstGeom prst="rect">
            <a:avLst/>
          </a:prstGeom>
        </p:spPr>
        <p:txBody>
          <a:bodyPr wrap="square">
            <a:spAutoFit/>
          </a:bodyPr>
          <a:lstStyle/>
          <a:p>
            <a:r>
              <a:rPr lang="en-US" sz="2800" b="1" dirty="0" smtClean="0">
                <a:solidFill>
                  <a:srgbClr val="002060"/>
                </a:solidFill>
              </a:rPr>
              <a:t>Make the Sabbath a Delight—”All who love God should do what they can to make the Sabbath a delight, holy and honorable. They cannot do this by seeking their own pleasure in sinful, forbidden amusements.</a:t>
            </a:r>
            <a:r>
              <a:rPr lang="en-US" sz="2800" dirty="0" smtClean="0"/>
              <a:t> Yet they can do much to exalt the Sabbath in their families </a:t>
            </a:r>
            <a:r>
              <a:rPr lang="en-US" sz="2800" b="1" dirty="0" smtClean="0">
                <a:solidFill>
                  <a:srgbClr val="002060"/>
                </a:solidFill>
              </a:rPr>
              <a:t>and make it the most interesting day of the week.</a:t>
            </a:r>
            <a:r>
              <a:rPr lang="en-US" sz="2800" dirty="0" smtClean="0"/>
              <a:t> We should devote time to interesting our children. A change will have a happy influence upon them. We can walk out with them in the open air; we can sit with them in the groves and in the bright sunshine, and give their restless minds something to feed upon by conversing with them upon the works of God, and can inspire them with love and reverence by calling their attention to the beautiful objects in nature.” (Child Guidance 536.1). </a:t>
            </a:r>
            <a:endParaRPr lang="en-US" sz="2800" dirty="0"/>
          </a:p>
        </p:txBody>
      </p:sp>
      <p:sp>
        <p:nvSpPr>
          <p:cNvPr id="3" name="Rectangle 2"/>
          <p:cNvSpPr/>
          <p:nvPr/>
        </p:nvSpPr>
        <p:spPr>
          <a:xfrm>
            <a:off x="2743200" y="0"/>
            <a:ext cx="3382273" cy="769441"/>
          </a:xfrm>
          <a:prstGeom prst="rect">
            <a:avLst/>
          </a:prstGeom>
        </p:spPr>
        <p:txBody>
          <a:bodyPr wrap="none">
            <a:spAutoFit/>
          </a:bodyPr>
          <a:lstStyle/>
          <a:p>
            <a:r>
              <a:rPr lang="en-US" sz="4400" b="1" dirty="0" smtClean="0"/>
              <a:t>THE SABBATH</a:t>
            </a:r>
            <a:endParaRPr lang="en-US" sz="44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1600" y="228600"/>
            <a:ext cx="3294300" cy="523220"/>
          </a:xfrm>
          <a:prstGeom prst="rect">
            <a:avLst/>
          </a:prstGeom>
        </p:spPr>
        <p:txBody>
          <a:bodyPr wrap="none">
            <a:spAutoFit/>
          </a:bodyPr>
          <a:lstStyle/>
          <a:p>
            <a:r>
              <a:rPr lang="en-US" sz="2800" b="1" dirty="0" smtClean="0"/>
              <a:t>PERSONAL WORSHIP</a:t>
            </a:r>
            <a:endParaRPr lang="en-US" sz="2800" b="1" dirty="0"/>
          </a:p>
        </p:txBody>
      </p:sp>
      <p:sp>
        <p:nvSpPr>
          <p:cNvPr id="3" name="Rectangle 2"/>
          <p:cNvSpPr/>
          <p:nvPr/>
        </p:nvSpPr>
        <p:spPr>
          <a:xfrm>
            <a:off x="304800" y="762000"/>
            <a:ext cx="6172200" cy="6001643"/>
          </a:xfrm>
          <a:prstGeom prst="rect">
            <a:avLst/>
          </a:prstGeom>
        </p:spPr>
        <p:txBody>
          <a:bodyPr wrap="square">
            <a:spAutoFit/>
          </a:bodyPr>
          <a:lstStyle/>
          <a:p>
            <a:r>
              <a:rPr lang="en-US" sz="3200" b="1" dirty="0" smtClean="0"/>
              <a:t>“Give yourself fully to God every morning</a:t>
            </a:r>
            <a:r>
              <a:rPr lang="en-US" sz="3200" dirty="0" smtClean="0"/>
              <a:t>. Make this your very first work. Let this be your prayer. “Take me, O Lord, as wholly Yours. I lay all my plans at Your feet. Use me today in Your service. Live with me, and let all my work be done to honor You. Every morning give yourself to God for that day. Put all your plans before Him, then carry out these plans or give them up as He guides (Steps to Jesus, 69.1,2).</a:t>
            </a:r>
            <a:endParaRPr lang="en-US" sz="3200" dirty="0"/>
          </a:p>
        </p:txBody>
      </p:sp>
      <p:pic>
        <p:nvPicPr>
          <p:cNvPr id="35842" name="Picture 2" descr="A Plan to Guide Your Personal Prayer Time – jeremycouture.me"/>
          <p:cNvPicPr>
            <a:picLocks noChangeAspect="1" noChangeArrowheads="1"/>
          </p:cNvPicPr>
          <p:nvPr/>
        </p:nvPicPr>
        <p:blipFill>
          <a:blip r:embed="rId2" cstate="print"/>
          <a:srcRect/>
          <a:stretch>
            <a:fillRect/>
          </a:stretch>
        </p:blipFill>
        <p:spPr bwMode="auto">
          <a:xfrm>
            <a:off x="6248400" y="3124200"/>
            <a:ext cx="3124200" cy="33528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17,200+ Know Your Audience Stock Photos, Pictures &amp; Royalty ..."/>
          <p:cNvPicPr>
            <a:picLocks noChangeAspect="1" noChangeArrowheads="1"/>
          </p:cNvPicPr>
          <p:nvPr/>
        </p:nvPicPr>
        <p:blipFill>
          <a:blip r:embed="rId2" cstate="print"/>
          <a:srcRect/>
          <a:stretch>
            <a:fillRect/>
          </a:stretch>
        </p:blipFill>
        <p:spPr bwMode="auto">
          <a:xfrm>
            <a:off x="0" y="-1"/>
            <a:ext cx="9144000" cy="7784355"/>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21 Beautiful Pictures of Jesus to Inspire You — Altus Fine Art"/>
          <p:cNvPicPr>
            <a:picLocks noChangeAspect="1" noChangeArrowheads="1"/>
          </p:cNvPicPr>
          <p:nvPr/>
        </p:nvPicPr>
        <p:blipFill>
          <a:blip r:embed="rId2" cstate="print"/>
          <a:srcRect/>
          <a:stretch>
            <a:fillRect/>
          </a:stretch>
        </p:blipFill>
        <p:spPr bwMode="auto">
          <a:xfrm>
            <a:off x="304800" y="0"/>
            <a:ext cx="8610600" cy="70866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581</TotalTime>
  <Words>890</Words>
  <Application>Microsoft Office PowerPoint</Application>
  <PresentationFormat>On-screen Show (4:3)</PresentationFormat>
  <Paragraphs>40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Toshiba</dc:creator>
  <cp:lastModifiedBy>Toshiba</cp:lastModifiedBy>
  <cp:revision>3</cp:revision>
  <dcterms:created xsi:type="dcterms:W3CDTF">2024-08-16T14:37:17Z</dcterms:created>
  <dcterms:modified xsi:type="dcterms:W3CDTF">2024-08-17T00:18:25Z</dcterms:modified>
</cp:coreProperties>
</file>