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78" r:id="rId12"/>
    <p:sldId id="266" r:id="rId13"/>
    <p:sldId id="283" r:id="rId14"/>
    <p:sldId id="267" r:id="rId15"/>
    <p:sldId id="268" r:id="rId16"/>
    <p:sldId id="269" r:id="rId17"/>
    <p:sldId id="271" r:id="rId18"/>
    <p:sldId id="272" r:id="rId19"/>
    <p:sldId id="273" r:id="rId20"/>
    <p:sldId id="274" r:id="rId21"/>
    <p:sldId id="275" r:id="rId22"/>
    <p:sldId id="276" r:id="rId23"/>
    <p:sldId id="277" r:id="rId24"/>
    <p:sldId id="284" r:id="rId25"/>
    <p:sldId id="279" r:id="rId26"/>
    <p:sldId id="280" r:id="rId27"/>
    <p:sldId id="281"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8" d="100"/>
          <a:sy n="68" d="100"/>
        </p:scale>
        <p:origin x="90"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39510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1766338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3675225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DF90FC9-80CF-45DB-9ED2-97DFCA467768}" type="datetimeFigureOut">
              <a:rPr lang="en-ZW" smtClean="0"/>
              <a:t>6/11/2024</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2930085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DF90FC9-80CF-45DB-9ED2-97DFCA467768}" type="datetimeFigureOut">
              <a:rPr lang="en-ZW" smtClean="0"/>
              <a:t>6/11/2024</a:t>
            </a:fld>
            <a:endParaRPr lang="en-ZW"/>
          </a:p>
        </p:txBody>
      </p:sp>
      <p:sp>
        <p:nvSpPr>
          <p:cNvPr id="8" name="Footer Placeholder 7"/>
          <p:cNvSpPr>
            <a:spLocks noGrp="1"/>
          </p:cNvSpPr>
          <p:nvPr>
            <p:ph type="ftr" sz="quarter" idx="11"/>
          </p:nvPr>
        </p:nvSpPr>
        <p:spPr/>
        <p:txBody>
          <a:bodyPr/>
          <a:lstStyle/>
          <a:p>
            <a:endParaRPr lang="en-ZW"/>
          </a:p>
        </p:txBody>
      </p:sp>
      <p:sp>
        <p:nvSpPr>
          <p:cNvPr id="9" name="Slide Number Placeholder 8"/>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3063257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DF90FC9-80CF-45DB-9ED2-97DFCA467768}" type="datetimeFigureOut">
              <a:rPr lang="en-ZW" smtClean="0"/>
              <a:t>6/11/2024</a:t>
            </a:fld>
            <a:endParaRPr lang="en-ZW"/>
          </a:p>
        </p:txBody>
      </p:sp>
      <p:sp>
        <p:nvSpPr>
          <p:cNvPr id="4" name="Footer Placeholder 3"/>
          <p:cNvSpPr>
            <a:spLocks noGrp="1"/>
          </p:cNvSpPr>
          <p:nvPr>
            <p:ph type="ftr" sz="quarter" idx="11"/>
          </p:nvPr>
        </p:nvSpPr>
        <p:spPr/>
        <p:txBody>
          <a:bodyPr/>
          <a:lstStyle/>
          <a:p>
            <a:endParaRPr lang="en-ZW"/>
          </a:p>
        </p:txBody>
      </p:sp>
      <p:sp>
        <p:nvSpPr>
          <p:cNvPr id="5" name="Slide Number Placeholder 4"/>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297833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F90FC9-80CF-45DB-9ED2-97DFCA467768}" type="datetimeFigureOut">
              <a:rPr lang="en-ZW" smtClean="0"/>
              <a:t>6/11/2024</a:t>
            </a:fld>
            <a:endParaRPr lang="en-ZW"/>
          </a:p>
        </p:txBody>
      </p:sp>
      <p:sp>
        <p:nvSpPr>
          <p:cNvPr id="3" name="Footer Placeholder 2"/>
          <p:cNvSpPr>
            <a:spLocks noGrp="1"/>
          </p:cNvSpPr>
          <p:nvPr>
            <p:ph type="ftr" sz="quarter" idx="11"/>
          </p:nvPr>
        </p:nvSpPr>
        <p:spPr/>
        <p:txBody>
          <a:bodyPr/>
          <a:lstStyle/>
          <a:p>
            <a:endParaRPr lang="en-ZW"/>
          </a:p>
        </p:txBody>
      </p:sp>
      <p:sp>
        <p:nvSpPr>
          <p:cNvPr id="4" name="Slide Number Placeholder 3"/>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984728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DF90FC9-80CF-45DB-9ED2-97DFCA467768}" type="datetimeFigureOut">
              <a:rPr lang="en-ZW" smtClean="0"/>
              <a:t>6/11/2024</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3354357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DF90FC9-80CF-45DB-9ED2-97DFCA467768}" type="datetimeFigureOut">
              <a:rPr lang="en-ZW" smtClean="0"/>
              <a:t>6/11/2024</a:t>
            </a:fld>
            <a:endParaRPr lang="en-ZW"/>
          </a:p>
        </p:txBody>
      </p:sp>
      <p:sp>
        <p:nvSpPr>
          <p:cNvPr id="6" name="Footer Placeholder 5"/>
          <p:cNvSpPr>
            <a:spLocks noGrp="1"/>
          </p:cNvSpPr>
          <p:nvPr>
            <p:ph type="ftr" sz="quarter" idx="11"/>
          </p:nvPr>
        </p:nvSpPr>
        <p:spPr/>
        <p:txBody>
          <a:bodyPr/>
          <a:lstStyle/>
          <a:p>
            <a:endParaRPr lang="en-ZW"/>
          </a:p>
        </p:txBody>
      </p:sp>
      <p:sp>
        <p:nvSpPr>
          <p:cNvPr id="7" name="Slide Number Placeholder 6"/>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1272815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2014755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99193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1220131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79279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1376274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1233948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F90FC9-80CF-45DB-9ED2-97DFCA467768}" type="datetimeFigureOut">
              <a:rPr lang="en-ZW" smtClean="0"/>
              <a:t>6/11/2024</a:t>
            </a:fld>
            <a:endParaRPr lang="en-ZW"/>
          </a:p>
        </p:txBody>
      </p:sp>
      <p:sp>
        <p:nvSpPr>
          <p:cNvPr id="5" name="Footer Placeholder 4"/>
          <p:cNvSpPr>
            <a:spLocks noGrp="1"/>
          </p:cNvSpPr>
          <p:nvPr>
            <p:ph type="ftr" sz="quarter" idx="11"/>
          </p:nvPr>
        </p:nvSpPr>
        <p:spPr/>
        <p:txBody>
          <a:bodyPr/>
          <a:lstStyle/>
          <a:p>
            <a:endParaRPr lang="en-ZW"/>
          </a:p>
        </p:txBody>
      </p:sp>
      <p:sp>
        <p:nvSpPr>
          <p:cNvPr id="6" name="Slide Number Placeholder 5"/>
          <p:cNvSpPr>
            <a:spLocks noGrp="1"/>
          </p:cNvSpPr>
          <p:nvPr>
            <p:ph type="sldNum" sz="quarter" idx="12"/>
          </p:nvPr>
        </p:nvSpPr>
        <p:spPr/>
        <p:txBody>
          <a:bodyPr/>
          <a:lstStyle/>
          <a:p>
            <a:fld id="{8CD60D05-FE8B-4D6D-A7EA-8161E60669D6}" type="slidenum">
              <a:rPr lang="en-ZW" smtClean="0"/>
              <a:t>‹#›</a:t>
            </a:fld>
            <a:endParaRPr lang="en-ZW"/>
          </a:p>
        </p:txBody>
      </p:sp>
    </p:spTree>
    <p:extLst>
      <p:ext uri="{BB962C8B-B14F-4D97-AF65-F5344CB8AC3E}">
        <p14:creationId xmlns:p14="http://schemas.microsoft.com/office/powerpoint/2010/main" val="426769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F90FC9-80CF-45DB-9ED2-97DFCA467768}" type="datetimeFigureOut">
              <a:rPr lang="en-ZW" smtClean="0"/>
              <a:t>6/11/2024</a:t>
            </a:fld>
            <a:endParaRPr lang="en-ZW"/>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ZW"/>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CD60D05-FE8B-4D6D-A7EA-8161E60669D6}" type="slidenum">
              <a:rPr lang="en-ZW" smtClean="0"/>
              <a:t>‹#›</a:t>
            </a:fld>
            <a:endParaRPr lang="en-ZW"/>
          </a:p>
        </p:txBody>
      </p:sp>
    </p:spTree>
    <p:extLst>
      <p:ext uri="{BB962C8B-B14F-4D97-AF65-F5344CB8AC3E}">
        <p14:creationId xmlns:p14="http://schemas.microsoft.com/office/powerpoint/2010/main" val="136925293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EDUCATION:THEORY AND PRACTICE</a:t>
            </a:r>
            <a:endParaRPr lang="en-ZW" dirty="0"/>
          </a:p>
        </p:txBody>
      </p:sp>
      <p:sp>
        <p:nvSpPr>
          <p:cNvPr id="3" name="Subtitle 2"/>
          <p:cNvSpPr>
            <a:spLocks noGrp="1"/>
          </p:cNvSpPr>
          <p:nvPr>
            <p:ph type="subTitle" idx="1"/>
          </p:nvPr>
        </p:nvSpPr>
        <p:spPr/>
        <p:txBody>
          <a:bodyPr>
            <a:normAutofit/>
          </a:bodyPr>
          <a:lstStyle/>
          <a:p>
            <a:pPr algn="ctr"/>
            <a:r>
              <a:rPr lang="en-US" sz="2800" dirty="0" smtClean="0"/>
              <a:t>MG WORKSHOP</a:t>
            </a:r>
          </a:p>
          <a:p>
            <a:pPr algn="ctr"/>
            <a:r>
              <a:rPr lang="en-US" sz="2800" dirty="0" smtClean="0"/>
              <a:t>PREPARE BY CDE SLY</a:t>
            </a:r>
            <a:endParaRPr lang="en-ZW" sz="2800" dirty="0"/>
          </a:p>
        </p:txBody>
      </p:sp>
    </p:spTree>
    <p:extLst>
      <p:ext uri="{BB962C8B-B14F-4D97-AF65-F5344CB8AC3E}">
        <p14:creationId xmlns:p14="http://schemas.microsoft.com/office/powerpoint/2010/main" val="137465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smtClean="0"/>
              <a:t>AIM OF THE WORKSHOP</a:t>
            </a:r>
            <a:endParaRPr lang="en-ZW" sz="5400" dirty="0"/>
          </a:p>
        </p:txBody>
      </p:sp>
      <p:sp>
        <p:nvSpPr>
          <p:cNvPr id="3" name="Content Placeholder 2"/>
          <p:cNvSpPr>
            <a:spLocks noGrp="1"/>
          </p:cNvSpPr>
          <p:nvPr>
            <p:ph idx="1"/>
          </p:nvPr>
        </p:nvSpPr>
        <p:spPr/>
        <p:txBody>
          <a:bodyPr>
            <a:normAutofit/>
          </a:bodyPr>
          <a:lstStyle/>
          <a:p>
            <a:r>
              <a:rPr lang="en-US" sz="2800" dirty="0" smtClean="0"/>
              <a:t>to introduce the overall themes of the book Education, and how these themes form the foundation of club ministry.</a:t>
            </a:r>
          </a:p>
          <a:p>
            <a:r>
              <a:rPr lang="en-US" sz="2800" dirty="0" smtClean="0"/>
              <a:t>TO EXPOSE LEADERS TO THE ADVENTIST BLUEPRINT OF EDUCATION.</a:t>
            </a:r>
          </a:p>
          <a:p>
            <a:r>
              <a:rPr lang="en-US" sz="2800" dirty="0" smtClean="0"/>
              <a:t>TO cover the practical components of building lesson plans for teaching.</a:t>
            </a:r>
            <a:endParaRPr lang="en-ZW" sz="2800" dirty="0"/>
          </a:p>
        </p:txBody>
      </p:sp>
    </p:spTree>
    <p:extLst>
      <p:ext uri="{BB962C8B-B14F-4D97-AF65-F5344CB8AC3E}">
        <p14:creationId xmlns:p14="http://schemas.microsoft.com/office/powerpoint/2010/main" val="352251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W" sz="5400" dirty="0" smtClean="0"/>
              <a:t>PARTICIPANTS </a:t>
            </a:r>
            <a:endParaRPr lang="en-ZW" sz="5400" dirty="0"/>
          </a:p>
        </p:txBody>
      </p:sp>
      <p:sp>
        <p:nvSpPr>
          <p:cNvPr id="3" name="Content Placeholder 2"/>
          <p:cNvSpPr>
            <a:spLocks noGrp="1"/>
          </p:cNvSpPr>
          <p:nvPr>
            <p:ph idx="1"/>
          </p:nvPr>
        </p:nvSpPr>
        <p:spPr/>
        <p:txBody>
          <a:bodyPr>
            <a:normAutofit/>
          </a:bodyPr>
          <a:lstStyle/>
          <a:p>
            <a:r>
              <a:rPr lang="en-US" sz="3600" dirty="0" smtClean="0"/>
              <a:t>MGs who will facilitate the workshop.</a:t>
            </a:r>
          </a:p>
          <a:p>
            <a:r>
              <a:rPr lang="en-US" sz="3600" dirty="0" smtClean="0"/>
              <a:t>MITs</a:t>
            </a:r>
          </a:p>
          <a:p>
            <a:r>
              <a:rPr lang="en-US" sz="3600" dirty="0" smtClean="0"/>
              <a:t>Junior youth club leaders, counsellors and teachers.</a:t>
            </a:r>
            <a:endParaRPr lang="en-ZW" sz="3600" dirty="0"/>
          </a:p>
        </p:txBody>
      </p:sp>
    </p:spTree>
    <p:extLst>
      <p:ext uri="{BB962C8B-B14F-4D97-AF65-F5344CB8AC3E}">
        <p14:creationId xmlns:p14="http://schemas.microsoft.com/office/powerpoint/2010/main" val="1008937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W" sz="5400" dirty="0" smtClean="0"/>
              <a:t>PARTICIPANTS WILL LEARN:</a:t>
            </a:r>
            <a:endParaRPr lang="en-ZW" sz="5400" dirty="0"/>
          </a:p>
        </p:txBody>
      </p:sp>
      <p:sp>
        <p:nvSpPr>
          <p:cNvPr id="3" name="Content Placeholder 2"/>
          <p:cNvSpPr>
            <a:spLocks noGrp="1"/>
          </p:cNvSpPr>
          <p:nvPr>
            <p:ph idx="1"/>
          </p:nvPr>
        </p:nvSpPr>
        <p:spPr>
          <a:xfrm>
            <a:off x="677333" y="1645921"/>
            <a:ext cx="10168857" cy="4395442"/>
          </a:xfrm>
        </p:spPr>
        <p:txBody>
          <a:bodyPr>
            <a:noAutofit/>
          </a:bodyPr>
          <a:lstStyle/>
          <a:p>
            <a:r>
              <a:rPr lang="en-ZW" sz="3200" dirty="0" smtClean="0"/>
              <a:t>Luke 2:52 as the guiding principle of personal growth of a human.</a:t>
            </a:r>
          </a:p>
          <a:p>
            <a:r>
              <a:rPr lang="en-US" sz="3200" dirty="0" smtClean="0"/>
              <a:t>2. The Biblical worldview as the foundation of all Adventist education.</a:t>
            </a:r>
          </a:p>
          <a:p>
            <a:r>
              <a:rPr lang="en-US" sz="3200" dirty="0" smtClean="0"/>
              <a:t> 3. Principles from the book, Education which form the foundation of club ministry curriculum.</a:t>
            </a:r>
          </a:p>
          <a:p>
            <a:r>
              <a:rPr lang="en-US" sz="3200" dirty="0" smtClean="0"/>
              <a:t> 4. How to Design a Lesson Plan </a:t>
            </a:r>
            <a:endParaRPr lang="en-ZW" sz="3200" dirty="0"/>
          </a:p>
        </p:txBody>
      </p:sp>
    </p:spTree>
    <p:extLst>
      <p:ext uri="{BB962C8B-B14F-4D97-AF65-F5344CB8AC3E}">
        <p14:creationId xmlns:p14="http://schemas.microsoft.com/office/powerpoint/2010/main" val="703933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10548684" cy="909711"/>
          </a:xfrm>
        </p:spPr>
        <p:txBody>
          <a:bodyPr>
            <a:normAutofit/>
          </a:bodyPr>
          <a:lstStyle/>
          <a:p>
            <a:r>
              <a:rPr lang="en-US" sz="4400" dirty="0" smtClean="0"/>
              <a:t>EDUCATION AS DEFINED BY E.G.WHITE</a:t>
            </a:r>
            <a:endParaRPr lang="en-ZW" sz="4400" dirty="0"/>
          </a:p>
        </p:txBody>
      </p:sp>
      <p:sp>
        <p:nvSpPr>
          <p:cNvPr id="3" name="Content Placeholder 2"/>
          <p:cNvSpPr>
            <a:spLocks noGrp="1"/>
          </p:cNvSpPr>
          <p:nvPr>
            <p:ph idx="1"/>
          </p:nvPr>
        </p:nvSpPr>
        <p:spPr>
          <a:xfrm>
            <a:off x="548640" y="1519311"/>
            <a:ext cx="10677378" cy="5148775"/>
          </a:xfrm>
        </p:spPr>
        <p:txBody>
          <a:bodyPr>
            <a:noAutofit/>
          </a:bodyPr>
          <a:lstStyle/>
          <a:p>
            <a:r>
              <a:rPr lang="en-US" sz="2800" dirty="0" smtClean="0"/>
              <a:t>True education means more than the </a:t>
            </a:r>
            <a:r>
              <a:rPr lang="en-US" sz="2800" dirty="0" err="1" smtClean="0"/>
              <a:t>pursual</a:t>
            </a:r>
            <a:r>
              <a:rPr lang="en-US" sz="2800" dirty="0" smtClean="0"/>
              <a:t> of a certain course of study. </a:t>
            </a:r>
          </a:p>
          <a:p>
            <a:r>
              <a:rPr lang="en-US" sz="2800" dirty="0" smtClean="0"/>
              <a:t>It means more than a preparation for the life that now is. It has to do with the whole being, and with the whole period of existence possible to man.</a:t>
            </a:r>
          </a:p>
          <a:p>
            <a:r>
              <a:rPr lang="en-US" sz="2800" dirty="0" smtClean="0"/>
              <a:t> It is the harmonious development of the physical, the mental, and the spiritual powers.</a:t>
            </a:r>
          </a:p>
          <a:p>
            <a:r>
              <a:rPr lang="en-US" sz="2800" dirty="0" smtClean="0"/>
              <a:t> It prepares the student for the joy of service in this world and for the higher joy of wider service in the world to come.</a:t>
            </a:r>
          </a:p>
          <a:p>
            <a:r>
              <a:rPr lang="en-US" sz="2800" dirty="0" smtClean="0"/>
              <a:t>ED:8</a:t>
            </a:r>
            <a:endParaRPr lang="en-ZW" sz="2800" dirty="0"/>
          </a:p>
        </p:txBody>
      </p:sp>
    </p:spTree>
    <p:extLst>
      <p:ext uri="{BB962C8B-B14F-4D97-AF65-F5344CB8AC3E}">
        <p14:creationId xmlns:p14="http://schemas.microsoft.com/office/powerpoint/2010/main" val="118638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7846"/>
          </a:xfrm>
        </p:spPr>
        <p:txBody>
          <a:bodyPr>
            <a:normAutofit/>
          </a:bodyPr>
          <a:lstStyle/>
          <a:p>
            <a:r>
              <a:rPr lang="en-US" sz="5400" dirty="0" smtClean="0"/>
              <a:t>BENEFITS TO LEARNERS</a:t>
            </a:r>
            <a:endParaRPr lang="en-ZW" sz="5400" dirty="0"/>
          </a:p>
        </p:txBody>
      </p:sp>
      <p:sp>
        <p:nvSpPr>
          <p:cNvPr id="3" name="Content Placeholder 2"/>
          <p:cNvSpPr>
            <a:spLocks noGrp="1"/>
          </p:cNvSpPr>
          <p:nvPr>
            <p:ph idx="1"/>
          </p:nvPr>
        </p:nvSpPr>
        <p:spPr>
          <a:xfrm>
            <a:off x="677333" y="1786597"/>
            <a:ext cx="10520549" cy="4254765"/>
          </a:xfrm>
        </p:spPr>
        <p:txBody>
          <a:bodyPr>
            <a:normAutofit/>
          </a:bodyPr>
          <a:lstStyle/>
          <a:p>
            <a:r>
              <a:rPr lang="en-US" sz="3200" dirty="0" smtClean="0"/>
              <a:t>The distinctive depth of the Seventh-day Adventist focus of nurturing spiritual, mental, physical, and social health with the goal of service, is sometimes referred to as “The Adventist Blueprint.”</a:t>
            </a:r>
          </a:p>
          <a:p>
            <a:r>
              <a:rPr lang="en-US" sz="3200" dirty="0" smtClean="0"/>
              <a:t>It deals with the 3 Hs which are the HEAD[mental], the HAND[physical] and the HEART[spiritual]. </a:t>
            </a:r>
          </a:p>
          <a:p>
            <a:r>
              <a:rPr lang="en-US" sz="3200" dirty="0" smtClean="0"/>
              <a:t>Our curriculum, even in our ADVENTIST SCHOOLS, must fulfil these aspects.</a:t>
            </a:r>
            <a:endParaRPr lang="en-ZW" sz="3200" dirty="0"/>
          </a:p>
        </p:txBody>
      </p:sp>
    </p:spTree>
    <p:extLst>
      <p:ext uri="{BB962C8B-B14F-4D97-AF65-F5344CB8AC3E}">
        <p14:creationId xmlns:p14="http://schemas.microsoft.com/office/powerpoint/2010/main" val="41536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0872241" cy="1500554"/>
          </a:xfrm>
        </p:spPr>
        <p:txBody>
          <a:bodyPr>
            <a:noAutofit/>
          </a:bodyPr>
          <a:lstStyle/>
          <a:p>
            <a:r>
              <a:rPr lang="en-US" sz="4400" dirty="0" smtClean="0"/>
              <a:t>components that </a:t>
            </a:r>
            <a:r>
              <a:rPr lang="en-US" sz="4800" dirty="0" smtClean="0"/>
              <a:t>create</a:t>
            </a:r>
            <a:r>
              <a:rPr lang="en-US" sz="4400" dirty="0" smtClean="0"/>
              <a:t> the development of a balanced individual</a:t>
            </a:r>
            <a:endParaRPr lang="en-ZW" sz="4400" dirty="0"/>
          </a:p>
        </p:txBody>
      </p:sp>
      <p:sp>
        <p:nvSpPr>
          <p:cNvPr id="3" name="Content Placeholder 2"/>
          <p:cNvSpPr>
            <a:spLocks noGrp="1"/>
          </p:cNvSpPr>
          <p:nvPr>
            <p:ph idx="1"/>
          </p:nvPr>
        </p:nvSpPr>
        <p:spPr>
          <a:xfrm>
            <a:off x="677333" y="2672861"/>
            <a:ext cx="10520549" cy="3601329"/>
          </a:xfrm>
        </p:spPr>
        <p:txBody>
          <a:bodyPr>
            <a:normAutofit/>
          </a:bodyPr>
          <a:lstStyle/>
          <a:p>
            <a:r>
              <a:rPr lang="en-ZW" sz="3200" dirty="0" smtClean="0"/>
              <a:t>Spiritual development: </a:t>
            </a:r>
            <a:r>
              <a:rPr lang="en-US" sz="3200" dirty="0" smtClean="0"/>
              <a:t>refers to all that supports the restoration of a relationship with God.</a:t>
            </a:r>
            <a:r>
              <a:rPr lang="en-ZW" sz="3200" dirty="0" smtClean="0"/>
              <a:t> </a:t>
            </a:r>
          </a:p>
          <a:p>
            <a:r>
              <a:rPr lang="en-ZW" sz="3200" dirty="0" smtClean="0"/>
              <a:t>Physical: </a:t>
            </a:r>
            <a:r>
              <a:rPr lang="en-US" sz="3200" dirty="0" smtClean="0"/>
              <a:t>refers to not only the growth in height and strength, but to all the needs of the physical body. The body requires physical activity, fresh air, sunshine, nutrition, water, rest, and temperance.</a:t>
            </a:r>
            <a:r>
              <a:rPr lang="en-ZW" sz="3200" dirty="0" smtClean="0"/>
              <a:t> </a:t>
            </a:r>
          </a:p>
          <a:p>
            <a:endParaRPr lang="en-ZW" sz="3200" dirty="0"/>
          </a:p>
        </p:txBody>
      </p:sp>
    </p:spTree>
    <p:extLst>
      <p:ext uri="{BB962C8B-B14F-4D97-AF65-F5344CB8AC3E}">
        <p14:creationId xmlns:p14="http://schemas.microsoft.com/office/powerpoint/2010/main" val="384761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0801903" cy="1320800"/>
          </a:xfrm>
        </p:spPr>
        <p:txBody>
          <a:bodyPr>
            <a:noAutofit/>
          </a:bodyPr>
          <a:lstStyle/>
          <a:p>
            <a:r>
              <a:rPr lang="en-US" sz="4400" dirty="0" smtClean="0"/>
              <a:t>components that create the development of a balanced individual cont.</a:t>
            </a:r>
            <a:endParaRPr lang="en-ZW" sz="4400" dirty="0"/>
          </a:p>
        </p:txBody>
      </p:sp>
      <p:sp>
        <p:nvSpPr>
          <p:cNvPr id="3" name="Content Placeholder 2"/>
          <p:cNvSpPr>
            <a:spLocks noGrp="1"/>
          </p:cNvSpPr>
          <p:nvPr>
            <p:ph idx="1"/>
          </p:nvPr>
        </p:nvSpPr>
        <p:spPr>
          <a:xfrm>
            <a:off x="407963" y="2160589"/>
            <a:ext cx="11563643" cy="4296482"/>
          </a:xfrm>
        </p:spPr>
        <p:txBody>
          <a:bodyPr>
            <a:noAutofit/>
          </a:bodyPr>
          <a:lstStyle/>
          <a:p>
            <a:r>
              <a:rPr lang="en-ZW" sz="3200" dirty="0" smtClean="0"/>
              <a:t>Social: </a:t>
            </a:r>
            <a:r>
              <a:rPr lang="en-US" sz="3200" dirty="0" smtClean="0"/>
              <a:t>refers to both the interactions with peers as well as interactions with the broader community</a:t>
            </a:r>
            <a:endParaRPr lang="en-ZW" sz="3200" dirty="0" smtClean="0"/>
          </a:p>
          <a:p>
            <a:r>
              <a:rPr lang="en-ZW" sz="3200" dirty="0" smtClean="0"/>
              <a:t>Mental development: </a:t>
            </a:r>
            <a:r>
              <a:rPr lang="en-US" sz="3200" dirty="0" smtClean="0"/>
              <a:t>is divided into two different aspects: the intellect and the emotions. These aspects are tightly interwoven. </a:t>
            </a:r>
            <a:r>
              <a:rPr lang="en-ZW" sz="3200" dirty="0" smtClean="0"/>
              <a:t> </a:t>
            </a:r>
          </a:p>
          <a:p>
            <a:r>
              <a:rPr lang="en-ZW" sz="3200" dirty="0" smtClean="0"/>
              <a:t>Service: </a:t>
            </a:r>
            <a:r>
              <a:rPr lang="en-US" sz="3200" dirty="0" smtClean="0"/>
              <a:t>is one goal of Christian development. However, it is not merely for the goal of service itself. Service is to bring glory to God.</a:t>
            </a:r>
            <a:endParaRPr lang="en-ZW" sz="3200" dirty="0" smtClean="0"/>
          </a:p>
          <a:p>
            <a:endParaRPr lang="en-ZW" sz="3200" dirty="0"/>
          </a:p>
        </p:txBody>
      </p:sp>
    </p:spTree>
    <p:extLst>
      <p:ext uri="{BB962C8B-B14F-4D97-AF65-F5344CB8AC3E}">
        <p14:creationId xmlns:p14="http://schemas.microsoft.com/office/powerpoint/2010/main" val="754492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0351737" cy="1320800"/>
          </a:xfrm>
        </p:spPr>
        <p:txBody>
          <a:bodyPr>
            <a:noAutofit/>
          </a:bodyPr>
          <a:lstStyle/>
          <a:p>
            <a:r>
              <a:rPr lang="en-US" sz="4800" dirty="0" smtClean="0"/>
              <a:t>THEMES OF THE BOOK, EDUCATION</a:t>
            </a:r>
            <a:endParaRPr lang="en-ZW" sz="4800" dirty="0"/>
          </a:p>
        </p:txBody>
      </p:sp>
      <p:sp>
        <p:nvSpPr>
          <p:cNvPr id="3" name="Content Placeholder 2"/>
          <p:cNvSpPr>
            <a:spLocks noGrp="1"/>
          </p:cNvSpPr>
          <p:nvPr>
            <p:ph idx="1"/>
          </p:nvPr>
        </p:nvSpPr>
        <p:spPr>
          <a:xfrm>
            <a:off x="677334" y="2160589"/>
            <a:ext cx="10731564" cy="3880773"/>
          </a:xfrm>
        </p:spPr>
        <p:txBody>
          <a:bodyPr>
            <a:normAutofit/>
          </a:bodyPr>
          <a:lstStyle/>
          <a:p>
            <a:r>
              <a:rPr lang="en-US" sz="3200" dirty="0" smtClean="0"/>
              <a:t>RESTORATION (1)  “To restore in man the image of his Maker, to bring him back to the perfection in which he was created, to promote the development of body, mind, and soul, that the divine purpose in his creation might be realized-- this was to be the work of redemption. This is the object of education, the great object of life.” (Education, 15-16). </a:t>
            </a:r>
          </a:p>
          <a:p>
            <a:endParaRPr lang="en-ZW" sz="3200" dirty="0"/>
          </a:p>
        </p:txBody>
      </p:sp>
    </p:spTree>
    <p:extLst>
      <p:ext uri="{BB962C8B-B14F-4D97-AF65-F5344CB8AC3E}">
        <p14:creationId xmlns:p14="http://schemas.microsoft.com/office/powerpoint/2010/main" val="155807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974" y="-965982"/>
            <a:ext cx="8596668" cy="1320800"/>
          </a:xfrm>
        </p:spPr>
        <p:txBody>
          <a:bodyPr/>
          <a:lstStyle/>
          <a:p>
            <a:endParaRPr lang="en-ZW"/>
          </a:p>
        </p:txBody>
      </p:sp>
      <p:sp>
        <p:nvSpPr>
          <p:cNvPr id="3" name="Content Placeholder 2"/>
          <p:cNvSpPr>
            <a:spLocks noGrp="1"/>
          </p:cNvSpPr>
          <p:nvPr>
            <p:ph idx="1"/>
          </p:nvPr>
        </p:nvSpPr>
        <p:spPr>
          <a:xfrm>
            <a:off x="677334" y="984739"/>
            <a:ext cx="11209866" cy="5458264"/>
          </a:xfrm>
        </p:spPr>
        <p:txBody>
          <a:bodyPr>
            <a:noAutofit/>
          </a:bodyPr>
          <a:lstStyle/>
          <a:p>
            <a:r>
              <a:rPr lang="en-US" sz="2400" dirty="0" smtClean="0"/>
              <a:t>LOVE (2) and DEVELOPMENT OF THE WHOLE PERSON (3) are two of the overarching themes found in the quote below as well as many others.</a:t>
            </a:r>
          </a:p>
          <a:p>
            <a:r>
              <a:rPr lang="en-US" sz="2400" dirty="0" smtClean="0"/>
              <a:t> “Love, the basis of creation and of redemption, is the basis of true education. This is made plain in the law that God has given as the guide of life.</a:t>
            </a:r>
          </a:p>
          <a:p>
            <a:r>
              <a:rPr lang="en-US" sz="2400" dirty="0" smtClean="0"/>
              <a:t> The first and great commandment is, ‘You shall love the Lord your God with all your heart, and with all your soul, and with all your strength, and with all your mind.’ Luke 10:27. To love Him, the infinite, the omniscient One, with the whole strength, and mind, and heart, means the highest development of every power.</a:t>
            </a:r>
          </a:p>
          <a:p>
            <a:r>
              <a:rPr lang="en-US" sz="2400" dirty="0" smtClean="0"/>
              <a:t> It means that in the whole being—the body, the mind as well as the soul—the image of God is to be restored.” (Education, 16).</a:t>
            </a:r>
            <a:endParaRPr lang="en-ZW" sz="2400" dirty="0"/>
          </a:p>
        </p:txBody>
      </p:sp>
    </p:spTree>
    <p:extLst>
      <p:ext uri="{BB962C8B-B14F-4D97-AF65-F5344CB8AC3E}">
        <p14:creationId xmlns:p14="http://schemas.microsoft.com/office/powerpoint/2010/main" val="2564475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5649"/>
          </a:xfrm>
        </p:spPr>
        <p:txBody>
          <a:bodyPr>
            <a:normAutofit fontScale="90000"/>
          </a:bodyPr>
          <a:lstStyle/>
          <a:p>
            <a:endParaRPr lang="en-ZW" dirty="0"/>
          </a:p>
        </p:txBody>
      </p:sp>
      <p:sp>
        <p:nvSpPr>
          <p:cNvPr id="3" name="Content Placeholder 2"/>
          <p:cNvSpPr>
            <a:spLocks noGrp="1"/>
          </p:cNvSpPr>
          <p:nvPr>
            <p:ph idx="1"/>
          </p:nvPr>
        </p:nvSpPr>
        <p:spPr>
          <a:xfrm>
            <a:off x="677334" y="1223889"/>
            <a:ext cx="11209866" cy="4817473"/>
          </a:xfrm>
        </p:spPr>
        <p:txBody>
          <a:bodyPr>
            <a:normAutofit/>
          </a:bodyPr>
          <a:lstStyle/>
          <a:p>
            <a:r>
              <a:rPr lang="en-US" sz="3200" dirty="0" smtClean="0"/>
              <a:t>A REFLECTION OF THE GROWTH OF CHRIST AS STATED IN LUKE 2:52 SHOULD BE MIRRORED IN US. </a:t>
            </a:r>
          </a:p>
          <a:p>
            <a:r>
              <a:rPr lang="en-US" sz="3200" dirty="0" smtClean="0"/>
              <a:t>IT MUST BE A PERFECT REPLICA OF CHRIST’S LIFE, THAT SHOULD RADIATE FROM WITHIN US TO OTHERS.</a:t>
            </a:r>
            <a:endParaRPr lang="en-ZW" sz="3200" dirty="0"/>
          </a:p>
        </p:txBody>
      </p:sp>
    </p:spTree>
    <p:extLst>
      <p:ext uri="{BB962C8B-B14F-4D97-AF65-F5344CB8AC3E}">
        <p14:creationId xmlns:p14="http://schemas.microsoft.com/office/powerpoint/2010/main" val="79001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1582"/>
          </a:xfrm>
        </p:spPr>
        <p:txBody>
          <a:bodyPr>
            <a:normAutofit fontScale="90000"/>
          </a:bodyPr>
          <a:lstStyle/>
          <a:p>
            <a:endParaRPr lang="en-ZW" dirty="0"/>
          </a:p>
        </p:txBody>
      </p:sp>
      <p:sp>
        <p:nvSpPr>
          <p:cNvPr id="3" name="Content Placeholder 2"/>
          <p:cNvSpPr>
            <a:spLocks noGrp="1"/>
          </p:cNvSpPr>
          <p:nvPr>
            <p:ph idx="1"/>
          </p:nvPr>
        </p:nvSpPr>
        <p:spPr>
          <a:xfrm>
            <a:off x="677334" y="1420837"/>
            <a:ext cx="11139528" cy="4620525"/>
          </a:xfrm>
        </p:spPr>
        <p:txBody>
          <a:bodyPr>
            <a:normAutofit/>
          </a:bodyPr>
          <a:lstStyle/>
          <a:p>
            <a:r>
              <a:rPr lang="en-US" sz="4000" dirty="0" smtClean="0"/>
              <a:t>The overarching themes of SERVICE (4) and CHARACTER (5) development are introduced here and further developed throughout the entire book.</a:t>
            </a:r>
          </a:p>
          <a:p>
            <a:r>
              <a:rPr lang="en-US" sz="4000" dirty="0" smtClean="0"/>
              <a:t> “Like the first is the second commandment: ’You shall love your neighbor as yourself.’ Matthew 22:39. </a:t>
            </a:r>
          </a:p>
        </p:txBody>
      </p:sp>
    </p:spTree>
    <p:extLst>
      <p:ext uri="{BB962C8B-B14F-4D97-AF65-F5344CB8AC3E}">
        <p14:creationId xmlns:p14="http://schemas.microsoft.com/office/powerpoint/2010/main" val="321744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332935"/>
          </a:xfrm>
        </p:spPr>
        <p:txBody>
          <a:bodyPr>
            <a:normAutofit fontScale="90000"/>
          </a:bodyPr>
          <a:lstStyle/>
          <a:p>
            <a:endParaRPr lang="en-ZW" dirty="0"/>
          </a:p>
        </p:txBody>
      </p:sp>
      <p:sp>
        <p:nvSpPr>
          <p:cNvPr id="3" name="Content Placeholder 2"/>
          <p:cNvSpPr>
            <a:spLocks noGrp="1"/>
          </p:cNvSpPr>
          <p:nvPr>
            <p:ph idx="1"/>
          </p:nvPr>
        </p:nvSpPr>
        <p:spPr>
          <a:xfrm>
            <a:off x="677333" y="1097281"/>
            <a:ext cx="11097325" cy="5373858"/>
          </a:xfrm>
        </p:spPr>
        <p:txBody>
          <a:bodyPr>
            <a:noAutofit/>
          </a:bodyPr>
          <a:lstStyle/>
          <a:p>
            <a:r>
              <a:rPr lang="en-US" sz="2800" dirty="0"/>
              <a:t>The law of love calls for the devotion of body, mind, and soul to the service of God and our fellow men. And this service, while making us a blessing to others, brings the greatest blessing to ourselves. Unselfishness underlies all true development.” (Education, 16). </a:t>
            </a:r>
          </a:p>
          <a:p>
            <a:r>
              <a:rPr lang="en-US" sz="2800" dirty="0"/>
              <a:t>THE ADVENT MESSAGE TO ALL THE WORLD IN MY GENERATION” IS A DECLARATION FOR SERVICE. IT WORKS VERY WELL WITH A CHARACTER THAT IS CHRISTLIKE. HENCE THE NEED TO NURTURE THEM INTO HIS LIKENESS.</a:t>
            </a:r>
            <a:endParaRPr lang="en-ZW" sz="2800" dirty="0"/>
          </a:p>
          <a:p>
            <a:endParaRPr lang="en-ZW" sz="2800" dirty="0"/>
          </a:p>
        </p:txBody>
      </p:sp>
    </p:spTree>
    <p:extLst>
      <p:ext uri="{BB962C8B-B14F-4D97-AF65-F5344CB8AC3E}">
        <p14:creationId xmlns:p14="http://schemas.microsoft.com/office/powerpoint/2010/main" val="424066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318868"/>
          </a:xfrm>
        </p:spPr>
        <p:txBody>
          <a:bodyPr>
            <a:normAutofit fontScale="90000"/>
          </a:bodyPr>
          <a:lstStyle/>
          <a:p>
            <a:endParaRPr lang="en-ZW" dirty="0"/>
          </a:p>
        </p:txBody>
      </p:sp>
      <p:sp>
        <p:nvSpPr>
          <p:cNvPr id="3" name="Content Placeholder 2"/>
          <p:cNvSpPr>
            <a:spLocks noGrp="1"/>
          </p:cNvSpPr>
          <p:nvPr>
            <p:ph idx="1"/>
          </p:nvPr>
        </p:nvSpPr>
        <p:spPr>
          <a:xfrm>
            <a:off x="677334" y="1167618"/>
            <a:ext cx="11111392" cy="5528603"/>
          </a:xfrm>
        </p:spPr>
        <p:txBody>
          <a:bodyPr>
            <a:noAutofit/>
          </a:bodyPr>
          <a:lstStyle/>
          <a:p>
            <a:r>
              <a:rPr lang="en-US" sz="2800" dirty="0" smtClean="0"/>
              <a:t>NATURE (6), a lesson book from our Creator, is also a thread running throughout the book. “All that had been lost by yielding to Satan could be regained through Christ.</a:t>
            </a:r>
          </a:p>
          <a:p>
            <a:r>
              <a:rPr lang="en-US" sz="2800" dirty="0" smtClean="0"/>
              <a:t> This intimation also nature repeats to us. Though marred by sin, it speaks not only of creation but of redemption. Though the earth bears testimony to the curse in the evident signs of decay, it is still rich and beautiful in the tokens of </a:t>
            </a:r>
            <a:r>
              <a:rPr lang="en-US" sz="2800" dirty="0" err="1" smtClean="0"/>
              <a:t>lifegiving</a:t>
            </a:r>
            <a:r>
              <a:rPr lang="en-US" sz="2800" dirty="0" smtClean="0"/>
              <a:t> power.” (Education, 27).</a:t>
            </a:r>
          </a:p>
          <a:p>
            <a:r>
              <a:rPr lang="en-US" sz="2800" dirty="0" smtClean="0"/>
              <a:t>NATURE IS THE BEST RESOURCE BOOK WE CAN EVER GET. IT MUST BE USED EFFECTIVELY AND EFFICIENTLY IN OUR TEACHING AND LEARNING. HENCE THE REASON WHY WE VALUE CAMPING AND NATURE HONORS IN OUR CURRICULUM.</a:t>
            </a:r>
            <a:endParaRPr lang="en-ZW" sz="2800" dirty="0"/>
          </a:p>
        </p:txBody>
      </p:sp>
    </p:spTree>
    <p:extLst>
      <p:ext uri="{BB962C8B-B14F-4D97-AF65-F5344CB8AC3E}">
        <p14:creationId xmlns:p14="http://schemas.microsoft.com/office/powerpoint/2010/main" val="248042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5988"/>
          </a:xfrm>
        </p:spPr>
        <p:txBody>
          <a:bodyPr>
            <a:normAutofit fontScale="90000"/>
          </a:bodyPr>
          <a:lstStyle/>
          <a:p>
            <a:endParaRPr lang="en-ZW" dirty="0"/>
          </a:p>
        </p:txBody>
      </p:sp>
      <p:sp>
        <p:nvSpPr>
          <p:cNvPr id="3" name="Content Placeholder 2"/>
          <p:cNvSpPr>
            <a:spLocks noGrp="1"/>
          </p:cNvSpPr>
          <p:nvPr>
            <p:ph idx="1"/>
          </p:nvPr>
        </p:nvSpPr>
        <p:spPr>
          <a:xfrm>
            <a:off x="677333" y="2160589"/>
            <a:ext cx="11167663" cy="3880773"/>
          </a:xfrm>
        </p:spPr>
        <p:txBody>
          <a:bodyPr>
            <a:normAutofit/>
          </a:bodyPr>
          <a:lstStyle/>
          <a:p>
            <a:r>
              <a:rPr lang="en-US" sz="3600" dirty="0" smtClean="0"/>
              <a:t>The balanced, harmonious development of the human faculties not only brings happiness to the individual, but it also allows for service with the goal of bringing glory to God. These overarching themes provide the basis of education as it relates to Adventurers, Pathfinders and Master Guides. </a:t>
            </a:r>
            <a:endParaRPr lang="en-ZW" sz="3600" dirty="0"/>
          </a:p>
        </p:txBody>
      </p:sp>
    </p:spTree>
    <p:extLst>
      <p:ext uri="{BB962C8B-B14F-4D97-AF65-F5344CB8AC3E}">
        <p14:creationId xmlns:p14="http://schemas.microsoft.com/office/powerpoint/2010/main" val="274084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1167663" cy="1320800"/>
          </a:xfrm>
        </p:spPr>
        <p:txBody>
          <a:bodyPr>
            <a:noAutofit/>
          </a:bodyPr>
          <a:lstStyle/>
          <a:p>
            <a:r>
              <a:rPr lang="en-US" sz="4400" dirty="0" smtClean="0"/>
              <a:t>INSPIRATIONAL QUOTES FROM EDUCATION</a:t>
            </a:r>
            <a:endParaRPr lang="en-ZW" sz="4400" dirty="0"/>
          </a:p>
        </p:txBody>
      </p:sp>
      <p:sp>
        <p:nvSpPr>
          <p:cNvPr id="3" name="Content Placeholder 2"/>
          <p:cNvSpPr>
            <a:spLocks noGrp="1"/>
          </p:cNvSpPr>
          <p:nvPr>
            <p:ph idx="1"/>
          </p:nvPr>
        </p:nvSpPr>
        <p:spPr>
          <a:xfrm>
            <a:off x="677334" y="1589649"/>
            <a:ext cx="11167662" cy="4825219"/>
          </a:xfrm>
        </p:spPr>
        <p:txBody>
          <a:bodyPr>
            <a:noAutofit/>
          </a:bodyPr>
          <a:lstStyle/>
          <a:p>
            <a:r>
              <a:rPr lang="en-US" sz="2800" dirty="0" smtClean="0"/>
              <a:t>“The Holy Scriptures are the perfect standard of truth, and as such should be given the highest place in education.” (17) ›</a:t>
            </a:r>
          </a:p>
          <a:p>
            <a:r>
              <a:rPr lang="en-US" sz="2800" dirty="0" smtClean="0"/>
              <a:t> “Every human being, created in the image of God, is endowed with a power akin to that of the Creator— individuality, power to think and to do…. It is the work of true education to develop this power, to train the youth to be thinkers, and not mere reflectors of other men’s thought.” (17) </a:t>
            </a:r>
          </a:p>
          <a:p>
            <a:r>
              <a:rPr lang="en-US" sz="2800" dirty="0" smtClean="0"/>
              <a:t>EVERYONE HAS THE CAPACITY TO DO GREAT THINGS BECAUSE WE ARE EMPOWERED BY OUR CREATOR TO DO SO.</a:t>
            </a:r>
          </a:p>
          <a:p>
            <a:endParaRPr lang="en-ZW" sz="2800" dirty="0"/>
          </a:p>
        </p:txBody>
      </p:sp>
    </p:spTree>
    <p:extLst>
      <p:ext uri="{BB962C8B-B14F-4D97-AF65-F5344CB8AC3E}">
        <p14:creationId xmlns:p14="http://schemas.microsoft.com/office/powerpoint/2010/main" val="365569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677334" y="563881"/>
            <a:ext cx="8596668" cy="45719"/>
          </a:xfrm>
        </p:spPr>
        <p:txBody>
          <a:bodyPr>
            <a:normAutofit fontScale="90000"/>
          </a:bodyPr>
          <a:lstStyle/>
          <a:p>
            <a:endParaRPr lang="en-ZW" dirty="0"/>
          </a:p>
        </p:txBody>
      </p:sp>
      <p:sp>
        <p:nvSpPr>
          <p:cNvPr id="3" name="Content Placeholder 2"/>
          <p:cNvSpPr>
            <a:spLocks noGrp="1"/>
          </p:cNvSpPr>
          <p:nvPr>
            <p:ph idx="1"/>
          </p:nvPr>
        </p:nvSpPr>
        <p:spPr>
          <a:xfrm>
            <a:off x="677333" y="970671"/>
            <a:ext cx="11252069" cy="5303520"/>
          </a:xfrm>
        </p:spPr>
        <p:txBody>
          <a:bodyPr>
            <a:noAutofit/>
          </a:bodyPr>
          <a:lstStyle/>
          <a:p>
            <a:r>
              <a:rPr lang="en-US" sz="2800" dirty="0" smtClean="0"/>
              <a:t>“He who co-operates with the divine purpose in imparting to the youth a knowledge of God, and molding the character into harmony with His, does a high and noble work.</a:t>
            </a:r>
          </a:p>
          <a:p>
            <a:r>
              <a:rPr lang="en-US" sz="2800" dirty="0" smtClean="0"/>
              <a:t> As he awakens a desire to reach God’s ideal, he presents an education that is as high as heaven and as broad as the universe; an education that cannot be completed in this life, but that will be continued in the life to come; an education that secures to the successful student his passport from the preparatory school of earth to the higher grade, the school above.” (19) </a:t>
            </a:r>
          </a:p>
          <a:p>
            <a:r>
              <a:rPr lang="en-US" sz="2800" dirty="0" smtClean="0"/>
              <a:t>EDUCATION IS NOT AN EARTHLY PRINCIPLE. IT IS ODAINED OF GOD, AND IT HOLDS HIGHEST IDEALS THAT REFLECT GOD’S EXPECTATIONS.</a:t>
            </a:r>
            <a:endParaRPr lang="en-ZW" sz="2800" dirty="0"/>
          </a:p>
        </p:txBody>
      </p:sp>
    </p:spTree>
    <p:extLst>
      <p:ext uri="{BB962C8B-B14F-4D97-AF65-F5344CB8AC3E}">
        <p14:creationId xmlns:p14="http://schemas.microsoft.com/office/powerpoint/2010/main" val="328722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5649"/>
          </a:xfrm>
        </p:spPr>
        <p:txBody>
          <a:bodyPr>
            <a:normAutofit fontScale="90000"/>
          </a:bodyPr>
          <a:lstStyle/>
          <a:p>
            <a:endParaRPr lang="en-ZW" dirty="0"/>
          </a:p>
        </p:txBody>
      </p:sp>
      <p:sp>
        <p:nvSpPr>
          <p:cNvPr id="3" name="Content Placeholder 2"/>
          <p:cNvSpPr>
            <a:spLocks noGrp="1"/>
          </p:cNvSpPr>
          <p:nvPr>
            <p:ph idx="1"/>
          </p:nvPr>
        </p:nvSpPr>
        <p:spPr>
          <a:xfrm>
            <a:off x="677333" y="1223889"/>
            <a:ext cx="11252069" cy="4817473"/>
          </a:xfrm>
        </p:spPr>
        <p:txBody>
          <a:bodyPr>
            <a:normAutofit/>
          </a:bodyPr>
          <a:lstStyle/>
          <a:p>
            <a:r>
              <a:rPr lang="en-US" sz="3200" dirty="0" smtClean="0"/>
              <a:t>“In the highest sense the work of education and the work of redemption are one, for in education, as in redemption, ‘other foundation can no man lay than that is laid, which is Jesus Christ.’” (30)</a:t>
            </a:r>
          </a:p>
          <a:p>
            <a:r>
              <a:rPr lang="en-US" sz="3200" dirty="0" smtClean="0"/>
              <a:t>EDUCATING THE WORLD IS GIVING THE WORLD REDEMPTION. AS A CHRISTIAN, BE MINDFUL OF WHAT YOU ARE EDUCATING THE WORLD ON. BE THE INSTRUMENT, THE AMBASSADOR OF CHRIST.</a:t>
            </a:r>
            <a:endParaRPr lang="en-ZW" sz="3200" dirty="0"/>
          </a:p>
        </p:txBody>
      </p:sp>
    </p:spTree>
    <p:extLst>
      <p:ext uri="{BB962C8B-B14F-4D97-AF65-F5344CB8AC3E}">
        <p14:creationId xmlns:p14="http://schemas.microsoft.com/office/powerpoint/2010/main" val="9379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31409"/>
          </a:xfrm>
        </p:spPr>
        <p:txBody>
          <a:bodyPr>
            <a:normAutofit fontScale="90000"/>
          </a:bodyPr>
          <a:lstStyle/>
          <a:p>
            <a:endParaRPr lang="en-ZW" dirty="0"/>
          </a:p>
        </p:txBody>
      </p:sp>
      <p:sp>
        <p:nvSpPr>
          <p:cNvPr id="3" name="Content Placeholder 2"/>
          <p:cNvSpPr>
            <a:spLocks noGrp="1"/>
          </p:cNvSpPr>
          <p:nvPr>
            <p:ph idx="1"/>
          </p:nvPr>
        </p:nvSpPr>
        <p:spPr>
          <a:xfrm>
            <a:off x="677334" y="1041008"/>
            <a:ext cx="11139528" cy="5641145"/>
          </a:xfrm>
        </p:spPr>
        <p:txBody>
          <a:bodyPr>
            <a:noAutofit/>
          </a:bodyPr>
          <a:lstStyle/>
          <a:p>
            <a:r>
              <a:rPr lang="en-US" sz="3200" dirty="0" smtClean="0"/>
              <a:t>“In the home and the sanctuary, through the things of nature and of art, in labor and in festivity, in sacred building and memorial stone, by methods and rites and symbols unnumbered, God gave to Israel lessons illustrating His principles and preserving the memory of His wonderful works.” (41) </a:t>
            </a:r>
          </a:p>
          <a:p>
            <a:r>
              <a:rPr lang="en-US" sz="3200" dirty="0" smtClean="0"/>
              <a:t>EVERY TIME, PLACE IS A TEACHABLE MOMENT. EVERY OPPORTUNITY THAT COMES OUR WAY SHOULD BE USED TO IMPART VALUABLE KNOWLEDGE TO OUR LEARNERS. </a:t>
            </a:r>
            <a:endParaRPr lang="en-US" sz="3200" dirty="0"/>
          </a:p>
          <a:p>
            <a:r>
              <a:rPr lang="en-US" sz="3200" dirty="0" smtClean="0"/>
              <a:t>NO PLACE OR SITUATION IS CALLED UNSUITABLE FOR LEARNING.</a:t>
            </a:r>
            <a:endParaRPr lang="en-ZW" sz="3200" dirty="0"/>
          </a:p>
        </p:txBody>
      </p:sp>
    </p:spTree>
    <p:extLst>
      <p:ext uri="{BB962C8B-B14F-4D97-AF65-F5344CB8AC3E}">
        <p14:creationId xmlns:p14="http://schemas.microsoft.com/office/powerpoint/2010/main" val="280328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3785"/>
          </a:xfrm>
        </p:spPr>
        <p:txBody>
          <a:bodyPr>
            <a:normAutofit fontScale="90000"/>
          </a:bodyPr>
          <a:lstStyle/>
          <a:p>
            <a:endParaRPr lang="en-ZW" dirty="0"/>
          </a:p>
        </p:txBody>
      </p:sp>
      <p:sp>
        <p:nvSpPr>
          <p:cNvPr id="3" name="Content Placeholder 2"/>
          <p:cNvSpPr>
            <a:spLocks noGrp="1"/>
          </p:cNvSpPr>
          <p:nvPr>
            <p:ph idx="1"/>
          </p:nvPr>
        </p:nvSpPr>
        <p:spPr>
          <a:xfrm>
            <a:off x="677334" y="703385"/>
            <a:ext cx="10858174" cy="5337977"/>
          </a:xfrm>
        </p:spPr>
        <p:txBody>
          <a:bodyPr>
            <a:noAutofit/>
          </a:bodyPr>
          <a:lstStyle/>
          <a:p>
            <a:r>
              <a:rPr lang="en-US" sz="3200" dirty="0" smtClean="0"/>
              <a:t>“. . . it was regarded as a sin to allow children to grow up in ignorance of useful labor. Every youth, whether his parents were rich or poor, was taught some trade . . . a knowledge of practical life was regarded as essential to the greatest usefulness. </a:t>
            </a:r>
          </a:p>
          <a:p>
            <a:r>
              <a:rPr lang="en-US" sz="3200" dirty="0" smtClean="0"/>
              <a:t>THERE IS NO OTHER CRUELTY MORE THAN RAISING CHILDREN WHO CANNOT WORK AND BE PRODUCTIVE.</a:t>
            </a:r>
          </a:p>
          <a:p>
            <a:r>
              <a:rPr lang="en-US" sz="3200" dirty="0" smtClean="0"/>
              <a:t> WHEN THE BIBLE SAYS “TRAIN UP A CHILD…” [PROV 22:6] IT IS TRAINING IN ALL ASPECTS OF LIFE.</a:t>
            </a:r>
            <a:endParaRPr lang="en-ZW" sz="3200" dirty="0"/>
          </a:p>
        </p:txBody>
      </p:sp>
    </p:spTree>
    <p:extLst>
      <p:ext uri="{BB962C8B-B14F-4D97-AF65-F5344CB8AC3E}">
        <p14:creationId xmlns:p14="http://schemas.microsoft.com/office/powerpoint/2010/main" val="317030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5988"/>
          </a:xfrm>
        </p:spPr>
        <p:txBody>
          <a:bodyPr>
            <a:normAutofit fontScale="90000"/>
          </a:bodyPr>
          <a:lstStyle/>
          <a:p>
            <a:endParaRPr lang="en-ZW" dirty="0"/>
          </a:p>
        </p:txBody>
      </p:sp>
      <p:sp>
        <p:nvSpPr>
          <p:cNvPr id="3" name="Content Placeholder 2"/>
          <p:cNvSpPr>
            <a:spLocks noGrp="1"/>
          </p:cNvSpPr>
          <p:nvPr>
            <p:ph idx="1"/>
          </p:nvPr>
        </p:nvSpPr>
        <p:spPr>
          <a:xfrm>
            <a:off x="677333" y="858129"/>
            <a:ext cx="11153595" cy="5183233"/>
          </a:xfrm>
        </p:spPr>
        <p:txBody>
          <a:bodyPr>
            <a:noAutofit/>
          </a:bodyPr>
          <a:lstStyle/>
          <a:p>
            <a:r>
              <a:rPr lang="en-US" sz="3200" dirty="0" smtClean="0"/>
              <a:t>“He did not deal in abstract theories, but in that which is essential to the development of character; that which will enlarge man’s capacity for knowing God and increase his power to do good.” (81) </a:t>
            </a:r>
          </a:p>
          <a:p>
            <a:r>
              <a:rPr lang="en-US" sz="3200" dirty="0" smtClean="0"/>
              <a:t>“Never can there be a circumstance of life, a crisis in human experience, which has not been anticipated in His teaching, and for which its principles have not a lesson. The Prince of teachers, His words will be found a guide to His co-workers till the end of time.” (81-82) </a:t>
            </a:r>
          </a:p>
          <a:p>
            <a:r>
              <a:rPr lang="en-US" sz="3200" dirty="0" smtClean="0"/>
              <a:t>EVERY MOMENT IS A TEACHABLE OPPORTUNITY.</a:t>
            </a:r>
            <a:endParaRPr lang="en-ZW" sz="3200" dirty="0"/>
          </a:p>
        </p:txBody>
      </p:sp>
    </p:spTree>
    <p:extLst>
      <p:ext uri="{BB962C8B-B14F-4D97-AF65-F5344CB8AC3E}">
        <p14:creationId xmlns:p14="http://schemas.microsoft.com/office/powerpoint/2010/main" val="281109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217" y="609600"/>
            <a:ext cx="11605847" cy="1320800"/>
          </a:xfrm>
        </p:spPr>
        <p:txBody>
          <a:bodyPr>
            <a:noAutofit/>
          </a:bodyPr>
          <a:lstStyle/>
          <a:p>
            <a:r>
              <a:rPr lang="en-ZW" sz="4400" dirty="0" smtClean="0"/>
              <a:t>LESSON PLANS: ARE THEY REALLYIMPORTANT? </a:t>
            </a:r>
            <a:endParaRPr lang="en-ZW" sz="4400" dirty="0"/>
          </a:p>
        </p:txBody>
      </p:sp>
      <p:sp>
        <p:nvSpPr>
          <p:cNvPr id="3" name="Content Placeholder 2"/>
          <p:cNvSpPr>
            <a:spLocks noGrp="1"/>
          </p:cNvSpPr>
          <p:nvPr>
            <p:ph idx="1"/>
          </p:nvPr>
        </p:nvSpPr>
        <p:spPr>
          <a:xfrm>
            <a:off x="351692" y="1617785"/>
            <a:ext cx="11507372" cy="4698609"/>
          </a:xfrm>
        </p:spPr>
        <p:txBody>
          <a:bodyPr>
            <a:noAutofit/>
          </a:bodyPr>
          <a:lstStyle/>
          <a:p>
            <a:r>
              <a:rPr lang="en-US" sz="2800" dirty="0" smtClean="0"/>
              <a:t>“Every teacher should see to it that his work tends to definite results.</a:t>
            </a:r>
          </a:p>
          <a:p>
            <a:r>
              <a:rPr lang="en-US" sz="2800" dirty="0" smtClean="0"/>
              <a:t> Before attempting to teach a subject, he should have a distinct plan in mind, and should know just what he desires to accomplish.</a:t>
            </a:r>
          </a:p>
          <a:p>
            <a:r>
              <a:rPr lang="en-US" sz="2800" dirty="0" smtClean="0"/>
              <a:t> He should not rest satisfied with the presentation of any subject until the student understands the principle involved, perceives its truth, and is able to state clearly what he has learned.” (Education, 234).</a:t>
            </a:r>
          </a:p>
          <a:p>
            <a:r>
              <a:rPr lang="en-US" sz="2800" dirty="0" smtClean="0"/>
              <a:t>HE WHO FAILS TO PLAN PLANS TO FAIL. LESSON PLANS ARE GUIDES THAT WILL KEEP US FOCUSSED ON WHAT WE WANT TO ACHIEVE. </a:t>
            </a:r>
            <a:endParaRPr lang="en-ZW" sz="2800" dirty="0"/>
          </a:p>
        </p:txBody>
      </p:sp>
    </p:spTree>
    <p:extLst>
      <p:ext uri="{BB962C8B-B14F-4D97-AF65-F5344CB8AC3E}">
        <p14:creationId xmlns:p14="http://schemas.microsoft.com/office/powerpoint/2010/main" val="28391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0886309" cy="797169"/>
          </a:xfrm>
        </p:spPr>
        <p:txBody>
          <a:bodyPr>
            <a:noAutofit/>
          </a:bodyPr>
          <a:lstStyle/>
          <a:p>
            <a:r>
              <a:rPr lang="en-US" sz="4800" dirty="0" smtClean="0"/>
              <a:t>WHAT CONSTITUTES A LESSON PLAN?</a:t>
            </a:r>
            <a:endParaRPr lang="en-ZW" sz="4800" dirty="0"/>
          </a:p>
        </p:txBody>
      </p:sp>
      <p:sp>
        <p:nvSpPr>
          <p:cNvPr id="3" name="Content Placeholder 2"/>
          <p:cNvSpPr>
            <a:spLocks noGrp="1"/>
          </p:cNvSpPr>
          <p:nvPr>
            <p:ph idx="1"/>
          </p:nvPr>
        </p:nvSpPr>
        <p:spPr>
          <a:xfrm>
            <a:off x="677333" y="1406769"/>
            <a:ext cx="11223935" cy="4634593"/>
          </a:xfrm>
        </p:spPr>
        <p:txBody>
          <a:bodyPr>
            <a:noAutofit/>
          </a:bodyPr>
          <a:lstStyle/>
          <a:p>
            <a:r>
              <a:rPr lang="en-US" sz="2400" dirty="0" smtClean="0"/>
              <a:t>1. TOPIC: WHAT IS THE LESSON ABOUT?</a:t>
            </a:r>
          </a:p>
          <a:p>
            <a:r>
              <a:rPr lang="en-US" sz="2400" dirty="0" smtClean="0"/>
              <a:t>2. OBJECTIVE(S): WHAT DO YOU WANT TO ACHIEVE AT THE END OF THE LESSON?</a:t>
            </a:r>
          </a:p>
          <a:p>
            <a:r>
              <a:rPr lang="en-US" sz="2400" dirty="0" smtClean="0"/>
              <a:t>3. COMPETENCES: WHAT ARE THE SKILLS THAT LEARNERS WILL EMPLOY AND BENEFIT FROM THE LESSON?</a:t>
            </a:r>
          </a:p>
        </p:txBody>
      </p:sp>
    </p:spTree>
    <p:extLst>
      <p:ext uri="{BB962C8B-B14F-4D97-AF65-F5344CB8AC3E}">
        <p14:creationId xmlns:p14="http://schemas.microsoft.com/office/powerpoint/2010/main" val="348611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7852"/>
          </a:xfrm>
        </p:spPr>
        <p:txBody>
          <a:bodyPr>
            <a:normAutofit fontScale="90000"/>
          </a:bodyPr>
          <a:lstStyle/>
          <a:p>
            <a:endParaRPr lang="en-ZW" dirty="0"/>
          </a:p>
        </p:txBody>
      </p:sp>
      <p:sp>
        <p:nvSpPr>
          <p:cNvPr id="3" name="Content Placeholder 2"/>
          <p:cNvSpPr>
            <a:spLocks noGrp="1"/>
          </p:cNvSpPr>
          <p:nvPr>
            <p:ph idx="1"/>
          </p:nvPr>
        </p:nvSpPr>
        <p:spPr>
          <a:xfrm>
            <a:off x="677333" y="942535"/>
            <a:ext cx="11055121" cy="5627077"/>
          </a:xfrm>
        </p:spPr>
        <p:txBody>
          <a:bodyPr>
            <a:noAutofit/>
          </a:bodyPr>
          <a:lstStyle/>
          <a:p>
            <a:r>
              <a:rPr lang="en-US" sz="3200" dirty="0"/>
              <a:t>4. ACTIVITIES: HOW IS THE LESSON GOING TO BE DELIVERED, WAYS OF ENSURING PARTICIPATION AND CREATING INTEREST </a:t>
            </a:r>
          </a:p>
          <a:p>
            <a:r>
              <a:rPr lang="en-US" sz="3200" dirty="0"/>
              <a:t>5. RESOURCES/REFERENCES: WHAT ARE THE SOURCES OF YOUR INFORMATION,WHAT TEACHING MEDIA/AIDS ARE YOU GOING TO USE IN ORDER TO ENHANCE YOUR LESSON?</a:t>
            </a:r>
          </a:p>
          <a:p>
            <a:r>
              <a:rPr lang="en-US" sz="3200" dirty="0"/>
              <a:t>6. EVALUATION: HAVE YOU ACHIEVED YOUR OBJECTIVE(S)? IS THERE ANY LEARNER WHO STRUGGLED/ WHAT ARE YOU GOING TO DO TO ASSIST THE LEARNERS TO UNDERSTAND?</a:t>
            </a:r>
            <a:endParaRPr lang="en-ZW" sz="3200" dirty="0"/>
          </a:p>
        </p:txBody>
      </p:sp>
    </p:spTree>
    <p:extLst>
      <p:ext uri="{BB962C8B-B14F-4D97-AF65-F5344CB8AC3E}">
        <p14:creationId xmlns:p14="http://schemas.microsoft.com/office/powerpoint/2010/main" val="379615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11026986" cy="811237"/>
          </a:xfrm>
        </p:spPr>
        <p:txBody>
          <a:bodyPr>
            <a:normAutofit fontScale="90000"/>
          </a:bodyPr>
          <a:lstStyle/>
          <a:p>
            <a:r>
              <a:rPr lang="en-US" sz="5400" dirty="0" smtClean="0"/>
              <a:t>SAMPLE LESSON PLAN </a:t>
            </a:r>
            <a:endParaRPr lang="en-ZW" sz="5400" dirty="0"/>
          </a:p>
        </p:txBody>
      </p:sp>
      <p:sp>
        <p:nvSpPr>
          <p:cNvPr id="3" name="Content Placeholder 2"/>
          <p:cNvSpPr>
            <a:spLocks noGrp="1"/>
          </p:cNvSpPr>
          <p:nvPr>
            <p:ph idx="1"/>
          </p:nvPr>
        </p:nvSpPr>
        <p:spPr>
          <a:xfrm>
            <a:off x="677334" y="1575582"/>
            <a:ext cx="11026986" cy="5162843"/>
          </a:xfrm>
        </p:spPr>
        <p:txBody>
          <a:bodyPr>
            <a:noAutofit/>
          </a:bodyPr>
          <a:lstStyle/>
          <a:p>
            <a:r>
              <a:rPr lang="en-US" sz="2400" dirty="0" smtClean="0"/>
              <a:t>TOPIC: Friendship</a:t>
            </a:r>
          </a:p>
          <a:p>
            <a:r>
              <a:rPr lang="en-US" sz="2400" dirty="0" smtClean="0"/>
              <a:t>Objectives: </a:t>
            </a:r>
            <a:r>
              <a:rPr lang="en-US" sz="2400" u="sng" dirty="0" smtClean="0"/>
              <a:t>learners should be able to:  1. </a:t>
            </a:r>
            <a:r>
              <a:rPr lang="en-US" sz="2400" dirty="0" smtClean="0"/>
              <a:t>state 10 qualities of a good friend. 2. give at least 4 situations when they have practiced the “golden rule”</a:t>
            </a:r>
          </a:p>
          <a:p>
            <a:r>
              <a:rPr lang="en-US" sz="2400" dirty="0" smtClean="0"/>
              <a:t> competences: discussing, analyzing, </a:t>
            </a:r>
          </a:p>
          <a:p>
            <a:r>
              <a:rPr lang="en-US" sz="2400" dirty="0" smtClean="0"/>
              <a:t> group discussions on friendship. 2. watching a movie on friendship, dramatizing situations when they can practice the golden rule. Writing down notes.</a:t>
            </a:r>
          </a:p>
          <a:p>
            <a:r>
              <a:rPr lang="en-US" sz="2400" dirty="0" smtClean="0"/>
              <a:t>Refs/media: movie, drawing material, </a:t>
            </a:r>
            <a:r>
              <a:rPr lang="en-US" sz="2400" dirty="0" err="1" smtClean="0"/>
              <a:t>som:qualities</a:t>
            </a:r>
            <a:r>
              <a:rPr lang="en-US" sz="2400" dirty="0" smtClean="0"/>
              <a:t> of a good </a:t>
            </a:r>
            <a:r>
              <a:rPr lang="en-US" sz="2400" dirty="0" err="1" smtClean="0"/>
              <a:t>friend;Marcus</a:t>
            </a:r>
            <a:r>
              <a:rPr lang="en-US" sz="2400" dirty="0" smtClean="0"/>
              <a:t> </a:t>
            </a:r>
            <a:r>
              <a:rPr lang="en-US" sz="2400" dirty="0" err="1" smtClean="0"/>
              <a:t>Lenomis</a:t>
            </a:r>
            <a:r>
              <a:rPr lang="en-US" sz="2400" dirty="0" smtClean="0"/>
              <a:t> (2016)</a:t>
            </a:r>
          </a:p>
          <a:p>
            <a:r>
              <a:rPr lang="en-US" sz="2400" dirty="0" smtClean="0"/>
              <a:t>Evaluation: learners were able to state the 10 qualities of a good friend. The lessons was successful and objectives were achieved. </a:t>
            </a:r>
          </a:p>
          <a:p>
            <a:endParaRPr lang="en-US" sz="2400" dirty="0" smtClean="0"/>
          </a:p>
          <a:p>
            <a:endParaRPr lang="en-ZW" sz="2400" dirty="0"/>
          </a:p>
        </p:txBody>
      </p:sp>
    </p:spTree>
    <p:extLst>
      <p:ext uri="{BB962C8B-B14F-4D97-AF65-F5344CB8AC3E}">
        <p14:creationId xmlns:p14="http://schemas.microsoft.com/office/powerpoint/2010/main" val="343327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53440"/>
          </a:xfrm>
        </p:spPr>
        <p:txBody>
          <a:bodyPr>
            <a:normAutofit fontScale="90000"/>
          </a:bodyPr>
          <a:lstStyle/>
          <a:p>
            <a:pPr algn="ctr"/>
            <a:r>
              <a:rPr lang="en-US" sz="5400" dirty="0" smtClean="0"/>
              <a:t>CONCLUSION</a:t>
            </a:r>
            <a:endParaRPr lang="en-ZW" sz="5400" dirty="0"/>
          </a:p>
        </p:txBody>
      </p:sp>
      <p:sp>
        <p:nvSpPr>
          <p:cNvPr id="3" name="Content Placeholder 2"/>
          <p:cNvSpPr>
            <a:spLocks noGrp="1"/>
          </p:cNvSpPr>
          <p:nvPr>
            <p:ph idx="1"/>
          </p:nvPr>
        </p:nvSpPr>
        <p:spPr>
          <a:xfrm>
            <a:off x="677334" y="1463040"/>
            <a:ext cx="11209866" cy="5289451"/>
          </a:xfrm>
        </p:spPr>
        <p:txBody>
          <a:bodyPr>
            <a:noAutofit/>
          </a:bodyPr>
          <a:lstStyle/>
          <a:p>
            <a:r>
              <a:rPr lang="en-US" sz="3200" dirty="0" smtClean="0"/>
              <a:t>After all has been said and done, lesson planning and preparation should betaken seriously.</a:t>
            </a:r>
          </a:p>
          <a:p>
            <a:r>
              <a:rPr lang="en-US" sz="3200" dirty="0" smtClean="0"/>
              <a:t>We may fail to do other things but planning is KEY.</a:t>
            </a:r>
          </a:p>
          <a:p>
            <a:r>
              <a:rPr lang="en-US" sz="3200" dirty="0" smtClean="0"/>
              <a:t>THOSE WHO CRY FOUL, WHO THINK LEARNERS DON’T PAY ATTENTION, LEARNERS ARE RUDE OR THEY DON’T COMPLY, THIS IS SIMPLY BECAUSE THE PLANNING IS POOROR THERE IS NO PLANNING AT ALL.</a:t>
            </a:r>
          </a:p>
          <a:p>
            <a:r>
              <a:rPr lang="en-US" sz="3200" dirty="0" smtClean="0"/>
              <a:t>TEACHERS WHO SHOUT AT LEARNERS AFTER BEING ASKED QUESTIONS ARE SIMPLY DISPLAYING THEIR LACK OF KNOWLEDGE AND FAILURE TO PLAN.</a:t>
            </a:r>
            <a:endParaRPr lang="en-ZW" sz="3200" dirty="0"/>
          </a:p>
        </p:txBody>
      </p:sp>
    </p:spTree>
    <p:extLst>
      <p:ext uri="{BB962C8B-B14F-4D97-AF65-F5344CB8AC3E}">
        <p14:creationId xmlns:p14="http://schemas.microsoft.com/office/powerpoint/2010/main" val="126015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11139528" cy="825305"/>
          </a:xfrm>
        </p:spPr>
        <p:txBody>
          <a:bodyPr>
            <a:normAutofit/>
          </a:bodyPr>
          <a:lstStyle/>
          <a:p>
            <a:r>
              <a:rPr lang="en-US" sz="4000" dirty="0" smtClean="0"/>
              <a:t>PLAN TO PLAN SUCCESS, NOT PLANNING TO FAIL</a:t>
            </a:r>
            <a:endParaRPr lang="en-ZW" sz="4000" dirty="0"/>
          </a:p>
        </p:txBody>
      </p:sp>
      <p:sp>
        <p:nvSpPr>
          <p:cNvPr id="3" name="Content Placeholder 2"/>
          <p:cNvSpPr>
            <a:spLocks noGrp="1"/>
          </p:cNvSpPr>
          <p:nvPr>
            <p:ph idx="1"/>
          </p:nvPr>
        </p:nvSpPr>
        <p:spPr>
          <a:xfrm>
            <a:off x="677334" y="1589649"/>
            <a:ext cx="11139528" cy="4754880"/>
          </a:xfrm>
        </p:spPr>
        <p:txBody>
          <a:bodyPr>
            <a:noAutofit/>
          </a:bodyPr>
          <a:lstStyle/>
          <a:p>
            <a:r>
              <a:rPr lang="en-US" sz="3600" dirty="0" smtClean="0"/>
              <a:t>BE ORGANISED</a:t>
            </a:r>
          </a:p>
          <a:p>
            <a:r>
              <a:rPr lang="en-US" sz="3600" dirty="0" smtClean="0"/>
              <a:t>PLAN ALL LESSONS WELL AHEAD OF TIME.</a:t>
            </a:r>
          </a:p>
          <a:p>
            <a:r>
              <a:rPr lang="en-US" sz="3600" dirty="0" smtClean="0"/>
              <a:t>PREPARE FOR THE LESSONS BY GATHERING ALL THE MATERIAL YOU WILL NEED FOR THE LESSON.</a:t>
            </a:r>
          </a:p>
          <a:p>
            <a:r>
              <a:rPr lang="en-US" sz="3600" dirty="0" smtClean="0"/>
              <a:t>RESEARCH THOROUGHLY ON THE TOPIC TO PREPARE FOR QUESTIONS THAT MAY ARISE. [REMEMBER IGNORANCE IS NO DEFENCE AND IT BREEDS ARROGANCE.</a:t>
            </a:r>
            <a:endParaRPr lang="en-ZW" sz="3600" dirty="0"/>
          </a:p>
        </p:txBody>
      </p:sp>
    </p:spTree>
    <p:extLst>
      <p:ext uri="{BB962C8B-B14F-4D97-AF65-F5344CB8AC3E}">
        <p14:creationId xmlns:p14="http://schemas.microsoft.com/office/powerpoint/2010/main" val="406055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196948"/>
            <a:ext cx="8596668" cy="45719"/>
          </a:xfrm>
        </p:spPr>
        <p:txBody>
          <a:bodyPr>
            <a:normAutofit fontScale="90000"/>
          </a:bodyPr>
          <a:lstStyle/>
          <a:p>
            <a:endParaRPr lang="en-ZW" dirty="0"/>
          </a:p>
        </p:txBody>
      </p:sp>
      <p:sp>
        <p:nvSpPr>
          <p:cNvPr id="3" name="Content Placeholder 2"/>
          <p:cNvSpPr>
            <a:spLocks noGrp="1"/>
          </p:cNvSpPr>
          <p:nvPr>
            <p:ph idx="1"/>
          </p:nvPr>
        </p:nvSpPr>
        <p:spPr>
          <a:xfrm>
            <a:off x="677334" y="407963"/>
            <a:ext cx="11125460" cy="6077243"/>
          </a:xfrm>
        </p:spPr>
        <p:txBody>
          <a:bodyPr>
            <a:noAutofit/>
          </a:bodyPr>
          <a:lstStyle/>
          <a:p>
            <a:r>
              <a:rPr lang="en-US" sz="3600" dirty="0" smtClean="0"/>
              <a:t>PLAN WITH YOUR TEAM.</a:t>
            </a:r>
          </a:p>
          <a:p>
            <a:r>
              <a:rPr lang="en-US" sz="3600" dirty="0" smtClean="0"/>
              <a:t>MAKE THE LESSONS CAPTIVATING AND INTERESTING.</a:t>
            </a:r>
          </a:p>
          <a:p>
            <a:r>
              <a:rPr lang="en-US" sz="3600" dirty="0" smtClean="0"/>
              <a:t>Captivating lessons don’t come on their own, they are PLANNED.</a:t>
            </a:r>
          </a:p>
          <a:p>
            <a:pPr marL="0" indent="0">
              <a:buNone/>
            </a:pPr>
            <a:endParaRPr lang="en-US" sz="3600" dirty="0" smtClean="0"/>
          </a:p>
          <a:p>
            <a:r>
              <a:rPr lang="en-US" sz="3600" dirty="0" smtClean="0"/>
              <a:t>MAY GOD LEAD YOU AS YOU PLAN TO SERVE IN THE YOUTH DEPARTMENT FAITHFULLY.</a:t>
            </a:r>
          </a:p>
          <a:p>
            <a:r>
              <a:rPr lang="en-US" sz="3600" dirty="0" smtClean="0"/>
              <a:t>AMEEN!!!!!!!</a:t>
            </a:r>
            <a:endParaRPr lang="en-ZW" sz="3600" dirty="0"/>
          </a:p>
        </p:txBody>
      </p:sp>
    </p:spTree>
    <p:extLst>
      <p:ext uri="{BB962C8B-B14F-4D97-AF65-F5344CB8AC3E}">
        <p14:creationId xmlns:p14="http://schemas.microsoft.com/office/powerpoint/2010/main" val="347900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395</TotalTime>
  <Words>2219</Words>
  <Application>Microsoft Office PowerPoint</Application>
  <PresentationFormat>Widescreen</PresentationFormat>
  <Paragraphs>102</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Trebuchet MS</vt:lpstr>
      <vt:lpstr>Wingdings 3</vt:lpstr>
      <vt:lpstr>Facet</vt:lpstr>
      <vt:lpstr>EDUCATION:THEORY AND PRACTICE</vt:lpstr>
      <vt:lpstr>AIM OF THE WORKSHOP</vt:lpstr>
      <vt:lpstr>PARTICIPANTS </vt:lpstr>
      <vt:lpstr>PARTICIPANTS WILL LEARN:</vt:lpstr>
      <vt:lpstr>EDUCATION AS DEFINED BY E.G.WHITE</vt:lpstr>
      <vt:lpstr>BENEFITS TO LEARNERS</vt:lpstr>
      <vt:lpstr>components that create the development of a balanced individual</vt:lpstr>
      <vt:lpstr>components that create the development of a balanced individual cont.</vt:lpstr>
      <vt:lpstr>THEMES OF THE BOOK, EDUCATION</vt:lpstr>
      <vt:lpstr>PowerPoint Presentation</vt:lpstr>
      <vt:lpstr>PowerPoint Presentation</vt:lpstr>
      <vt:lpstr>PowerPoint Presentation</vt:lpstr>
      <vt:lpstr>PowerPoint Presentation</vt:lpstr>
      <vt:lpstr>PowerPoint Presentation</vt:lpstr>
      <vt:lpstr>PowerPoint Presentation</vt:lpstr>
      <vt:lpstr>INSPIRATIONAL QUOTES FROM EDUCATION</vt:lpstr>
      <vt:lpstr>PowerPoint Presentation</vt:lpstr>
      <vt:lpstr>PowerPoint Presentation</vt:lpstr>
      <vt:lpstr>PowerPoint Presentation</vt:lpstr>
      <vt:lpstr>PowerPoint Presentation</vt:lpstr>
      <vt:lpstr>PowerPoint Presentation</vt:lpstr>
      <vt:lpstr>LESSON PLANS: ARE THEY REALLYIMPORTANT? </vt:lpstr>
      <vt:lpstr>WHAT CONSTITUTES A LESSON PLAN?</vt:lpstr>
      <vt:lpstr>PowerPoint Presentation</vt:lpstr>
      <vt:lpstr>SAMPLE LESSON PLAN </vt:lpstr>
      <vt:lpstr>CONCLUSION</vt:lpstr>
      <vt:lpstr>PLAN TO PLAN SUCCESS, NOT PLANNING TO FAIL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EDUCATION:THEORY AND PRACTICE</dc:title>
  <dc:creator>Slevy</dc:creator>
  <cp:lastModifiedBy>Slevy</cp:lastModifiedBy>
  <cp:revision>22</cp:revision>
  <dcterms:created xsi:type="dcterms:W3CDTF">2024-11-06T02:51:43Z</dcterms:created>
  <dcterms:modified xsi:type="dcterms:W3CDTF">2024-11-06T09:27:42Z</dcterms:modified>
</cp:coreProperties>
</file>