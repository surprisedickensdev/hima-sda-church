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60" r:id="rId4"/>
    <p:sldId id="258" r:id="rId5"/>
    <p:sldId id="262" r:id="rId6"/>
    <p:sldId id="263" r:id="rId7"/>
    <p:sldId id="264" r:id="rId8"/>
    <p:sldId id="261" r:id="rId9"/>
    <p:sldId id="259" r:id="rId10"/>
    <p:sldId id="265" r:id="rId11"/>
    <p:sldId id="268" r:id="rId12"/>
    <p:sldId id="266"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3/6/2024</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3/6/2024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3/6/2024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3/6/2024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3/6/2024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3/6/2024</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8"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cdn.disciple.org.au/wp-content/uploads/2018/06/05152451/God_Encounters_Booklet.pdf"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iki.pathfindersonline.org/w/Main_Page?fbclid=IwAR2IlcVDjdPddjNTOGToqfDc9GfHqqeO7Z5gKb4laUAZSmfUaYa9d3dDIUI"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D0C16-C031-2F14-2767-4F4BC8AD9A0A}"/>
              </a:ext>
            </a:extLst>
          </p:cNvPr>
          <p:cNvSpPr>
            <a:spLocks noGrp="1"/>
          </p:cNvSpPr>
          <p:nvPr>
            <p:ph type="ctrTitle"/>
          </p:nvPr>
        </p:nvSpPr>
        <p:spPr/>
        <p:txBody>
          <a:bodyPr/>
          <a:lstStyle/>
          <a:p>
            <a:r>
              <a:rPr lang="en-US" b="1" dirty="0"/>
              <a:t>RESOURCES FOR CREATIVE INSTRUCTION</a:t>
            </a:r>
            <a:endParaRPr lang="en-PH" b="1" dirty="0"/>
          </a:p>
        </p:txBody>
      </p:sp>
      <p:sp>
        <p:nvSpPr>
          <p:cNvPr id="3" name="Subtitle 2">
            <a:extLst>
              <a:ext uri="{FF2B5EF4-FFF2-40B4-BE49-F238E27FC236}">
                <a16:creationId xmlns:a16="http://schemas.microsoft.com/office/drawing/2014/main" id="{E998206E-8B01-B2DA-2B3E-C12720763AC1}"/>
              </a:ext>
            </a:extLst>
          </p:cNvPr>
          <p:cNvSpPr>
            <a:spLocks noGrp="1"/>
          </p:cNvSpPr>
          <p:nvPr>
            <p:ph type="subTitle" idx="1"/>
          </p:nvPr>
        </p:nvSpPr>
        <p:spPr/>
        <p:txBody>
          <a:bodyPr/>
          <a:lstStyle/>
          <a:p>
            <a:endParaRPr lang="en-PH"/>
          </a:p>
        </p:txBody>
      </p:sp>
    </p:spTree>
    <p:extLst>
      <p:ext uri="{BB962C8B-B14F-4D97-AF65-F5344CB8AC3E}">
        <p14:creationId xmlns:p14="http://schemas.microsoft.com/office/powerpoint/2010/main" val="23268325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34C5E-28C6-CDA0-9C05-787DC60DEB66}"/>
              </a:ext>
            </a:extLst>
          </p:cNvPr>
          <p:cNvSpPr>
            <a:spLocks noGrp="1"/>
          </p:cNvSpPr>
          <p:nvPr>
            <p:ph type="title"/>
          </p:nvPr>
        </p:nvSpPr>
        <p:spPr>
          <a:xfrm>
            <a:off x="685801" y="606986"/>
            <a:ext cx="10131425" cy="1458882"/>
          </a:xfrm>
        </p:spPr>
        <p:txBody>
          <a:bodyPr>
            <a:normAutofit/>
          </a:bodyPr>
          <a:lstStyle/>
          <a:p>
            <a:r>
              <a:rPr lang="en-US" sz="4000" b="1" dirty="0"/>
              <a:t>WHAT YOUR PARTICIPANTS WILL LEARN</a:t>
            </a:r>
            <a:endParaRPr lang="en-PH" sz="4000" b="1" dirty="0"/>
          </a:p>
        </p:txBody>
      </p:sp>
      <p:sp>
        <p:nvSpPr>
          <p:cNvPr id="3" name="Content Placeholder 2">
            <a:extLst>
              <a:ext uri="{FF2B5EF4-FFF2-40B4-BE49-F238E27FC236}">
                <a16:creationId xmlns:a16="http://schemas.microsoft.com/office/drawing/2014/main" id="{5CB8EE5D-681C-85A5-FC93-0E9488E7E084}"/>
              </a:ext>
            </a:extLst>
          </p:cNvPr>
          <p:cNvSpPr>
            <a:spLocks noGrp="1"/>
          </p:cNvSpPr>
          <p:nvPr>
            <p:ph idx="1"/>
          </p:nvPr>
        </p:nvSpPr>
        <p:spPr>
          <a:xfrm>
            <a:off x="685801" y="1371600"/>
            <a:ext cx="10131425" cy="4724400"/>
          </a:xfrm>
        </p:spPr>
        <p:txBody>
          <a:bodyPr>
            <a:normAutofit/>
          </a:bodyPr>
          <a:lstStyle/>
          <a:p>
            <a:pPr marL="0" indent="0">
              <a:buNone/>
            </a:pPr>
            <a:r>
              <a:rPr lang="en-US" sz="3600" dirty="0"/>
              <a:t>1. Assessing resources needed for club ministry</a:t>
            </a:r>
          </a:p>
          <a:p>
            <a:pPr marL="0" indent="0">
              <a:buNone/>
            </a:pPr>
            <a:r>
              <a:rPr lang="en-US" sz="3600" dirty="0"/>
              <a:t>2. Developing teaching resources</a:t>
            </a:r>
          </a:p>
          <a:p>
            <a:pPr marL="0" indent="0">
              <a:buNone/>
            </a:pPr>
            <a:r>
              <a:rPr lang="en-US" sz="3600" dirty="0"/>
              <a:t>3. Types of resources and personnel needed</a:t>
            </a:r>
          </a:p>
          <a:p>
            <a:pPr marL="0" indent="0">
              <a:buNone/>
            </a:pPr>
            <a:r>
              <a:rPr lang="en-US" sz="3600" dirty="0"/>
              <a:t>4. Materials needed for awards, honors, and IA classes</a:t>
            </a:r>
            <a:endParaRPr lang="en-PH" sz="3600" dirty="0"/>
          </a:p>
        </p:txBody>
      </p:sp>
    </p:spTree>
    <p:extLst>
      <p:ext uri="{BB962C8B-B14F-4D97-AF65-F5344CB8AC3E}">
        <p14:creationId xmlns:p14="http://schemas.microsoft.com/office/powerpoint/2010/main" val="34769430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34C5E-28C6-CDA0-9C05-787DC60DEB66}"/>
              </a:ext>
            </a:extLst>
          </p:cNvPr>
          <p:cNvSpPr>
            <a:spLocks noGrp="1"/>
          </p:cNvSpPr>
          <p:nvPr>
            <p:ph type="title"/>
          </p:nvPr>
        </p:nvSpPr>
        <p:spPr>
          <a:xfrm>
            <a:off x="685801" y="606986"/>
            <a:ext cx="10131425" cy="1458882"/>
          </a:xfrm>
        </p:spPr>
        <p:txBody>
          <a:bodyPr>
            <a:normAutofit/>
          </a:bodyPr>
          <a:lstStyle/>
          <a:p>
            <a:endParaRPr lang="en-PH" sz="4000" b="1" dirty="0"/>
          </a:p>
        </p:txBody>
      </p:sp>
      <p:sp>
        <p:nvSpPr>
          <p:cNvPr id="3" name="Content Placeholder 2">
            <a:extLst>
              <a:ext uri="{FF2B5EF4-FFF2-40B4-BE49-F238E27FC236}">
                <a16:creationId xmlns:a16="http://schemas.microsoft.com/office/drawing/2014/main" id="{5CB8EE5D-681C-85A5-FC93-0E9488E7E084}"/>
              </a:ext>
            </a:extLst>
          </p:cNvPr>
          <p:cNvSpPr>
            <a:spLocks noGrp="1"/>
          </p:cNvSpPr>
          <p:nvPr>
            <p:ph idx="1"/>
          </p:nvPr>
        </p:nvSpPr>
        <p:spPr>
          <a:xfrm>
            <a:off x="685801" y="1371600"/>
            <a:ext cx="10131425" cy="4724400"/>
          </a:xfrm>
        </p:spPr>
        <p:txBody>
          <a:bodyPr>
            <a:normAutofit/>
          </a:bodyPr>
          <a:lstStyle/>
          <a:p>
            <a:pPr marL="0" indent="0">
              <a:buNone/>
            </a:pPr>
            <a:r>
              <a:rPr lang="en-US" sz="3600" dirty="0"/>
              <a:t>Philippians 4:8 “Whatever things are true, whatever things are noble, whatever things are just, whatever things are pure, whatever things are lovely, whatever things are of good report, if there is any virtue, if there is anything praiseworthy, think on these things.”</a:t>
            </a:r>
            <a:endParaRPr lang="en-PH" sz="3600" dirty="0"/>
          </a:p>
        </p:txBody>
      </p:sp>
    </p:spTree>
    <p:extLst>
      <p:ext uri="{BB962C8B-B14F-4D97-AF65-F5344CB8AC3E}">
        <p14:creationId xmlns:p14="http://schemas.microsoft.com/office/powerpoint/2010/main" val="23864204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34C5E-28C6-CDA0-9C05-787DC60DEB66}"/>
              </a:ext>
            </a:extLst>
          </p:cNvPr>
          <p:cNvSpPr>
            <a:spLocks noGrp="1"/>
          </p:cNvSpPr>
          <p:nvPr>
            <p:ph type="title"/>
          </p:nvPr>
        </p:nvSpPr>
        <p:spPr>
          <a:xfrm>
            <a:off x="685801" y="606986"/>
            <a:ext cx="10131425" cy="1458882"/>
          </a:xfrm>
        </p:spPr>
        <p:txBody>
          <a:bodyPr>
            <a:normAutofit/>
          </a:bodyPr>
          <a:lstStyle/>
          <a:p>
            <a:r>
              <a:rPr lang="en-US" sz="4000" b="1" dirty="0"/>
              <a:t>FACTORS THAT AFFECT RESOURCE SELECTION</a:t>
            </a:r>
            <a:endParaRPr lang="en-PH" sz="4000" b="1" dirty="0"/>
          </a:p>
        </p:txBody>
      </p:sp>
      <p:sp>
        <p:nvSpPr>
          <p:cNvPr id="3" name="Content Placeholder 2">
            <a:extLst>
              <a:ext uri="{FF2B5EF4-FFF2-40B4-BE49-F238E27FC236}">
                <a16:creationId xmlns:a16="http://schemas.microsoft.com/office/drawing/2014/main" id="{5CB8EE5D-681C-85A5-FC93-0E9488E7E084}"/>
              </a:ext>
            </a:extLst>
          </p:cNvPr>
          <p:cNvSpPr>
            <a:spLocks noGrp="1"/>
          </p:cNvSpPr>
          <p:nvPr>
            <p:ph idx="1"/>
          </p:nvPr>
        </p:nvSpPr>
        <p:spPr>
          <a:xfrm>
            <a:off x="685801" y="1891554"/>
            <a:ext cx="10131425" cy="2608728"/>
          </a:xfrm>
        </p:spPr>
        <p:txBody>
          <a:bodyPr>
            <a:normAutofit/>
          </a:bodyPr>
          <a:lstStyle/>
          <a:p>
            <a:pPr marL="0" indent="0">
              <a:buNone/>
            </a:pPr>
            <a:r>
              <a:rPr lang="en-US" sz="3600" b="1" dirty="0"/>
              <a:t>Beliefs</a:t>
            </a:r>
          </a:p>
          <a:p>
            <a:pPr marL="0" indent="0">
              <a:buNone/>
            </a:pPr>
            <a:r>
              <a:rPr lang="en-US" sz="3600" dirty="0"/>
              <a:t>Resources should be supportive of the Scriptural beliefs of the Seventh-day Adventist church.</a:t>
            </a:r>
            <a:endParaRPr lang="en-PH" sz="3600" dirty="0"/>
          </a:p>
        </p:txBody>
      </p:sp>
    </p:spTree>
    <p:extLst>
      <p:ext uri="{BB962C8B-B14F-4D97-AF65-F5344CB8AC3E}">
        <p14:creationId xmlns:p14="http://schemas.microsoft.com/office/powerpoint/2010/main" val="34906104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34C5E-28C6-CDA0-9C05-787DC60DEB66}"/>
              </a:ext>
            </a:extLst>
          </p:cNvPr>
          <p:cNvSpPr>
            <a:spLocks noGrp="1"/>
          </p:cNvSpPr>
          <p:nvPr>
            <p:ph type="title"/>
          </p:nvPr>
        </p:nvSpPr>
        <p:spPr>
          <a:xfrm>
            <a:off x="685801" y="606986"/>
            <a:ext cx="10131425" cy="1458882"/>
          </a:xfrm>
        </p:spPr>
        <p:txBody>
          <a:bodyPr>
            <a:normAutofit/>
          </a:bodyPr>
          <a:lstStyle/>
          <a:p>
            <a:r>
              <a:rPr lang="en-US" sz="4000" b="1" dirty="0"/>
              <a:t>FACTORS THAT AFFECT RESOURCE SELECTION</a:t>
            </a:r>
            <a:endParaRPr lang="en-PH" sz="4000" b="1" dirty="0"/>
          </a:p>
        </p:txBody>
      </p:sp>
      <p:sp>
        <p:nvSpPr>
          <p:cNvPr id="3" name="Content Placeholder 2">
            <a:extLst>
              <a:ext uri="{FF2B5EF4-FFF2-40B4-BE49-F238E27FC236}">
                <a16:creationId xmlns:a16="http://schemas.microsoft.com/office/drawing/2014/main" id="{5CB8EE5D-681C-85A5-FC93-0E9488E7E084}"/>
              </a:ext>
            </a:extLst>
          </p:cNvPr>
          <p:cNvSpPr>
            <a:spLocks noGrp="1"/>
          </p:cNvSpPr>
          <p:nvPr>
            <p:ph idx="1"/>
          </p:nvPr>
        </p:nvSpPr>
        <p:spPr>
          <a:xfrm>
            <a:off x="685801" y="1891553"/>
            <a:ext cx="10131425" cy="3711387"/>
          </a:xfrm>
        </p:spPr>
        <p:txBody>
          <a:bodyPr>
            <a:normAutofit fontScale="92500"/>
          </a:bodyPr>
          <a:lstStyle/>
          <a:p>
            <a:pPr marL="0" indent="0">
              <a:buNone/>
            </a:pPr>
            <a:r>
              <a:rPr lang="en-US" sz="3600" b="1" dirty="0"/>
              <a:t>Venue</a:t>
            </a:r>
          </a:p>
          <a:p>
            <a:pPr marL="0" indent="0">
              <a:buNone/>
            </a:pPr>
            <a:r>
              <a:rPr lang="en-US" sz="3600" dirty="0"/>
              <a:t>The place where you meet regularly for your program will have some bearing on your choice of resources. How much space is there for specific activities and resources?</a:t>
            </a:r>
          </a:p>
          <a:p>
            <a:pPr marL="0" indent="0">
              <a:buNone/>
            </a:pPr>
            <a:r>
              <a:rPr lang="en-US" sz="3600" dirty="0"/>
              <a:t>It is also necessary to evaluate the security of the location.</a:t>
            </a:r>
            <a:endParaRPr lang="en-PH" sz="3600" dirty="0"/>
          </a:p>
        </p:txBody>
      </p:sp>
    </p:spTree>
    <p:extLst>
      <p:ext uri="{BB962C8B-B14F-4D97-AF65-F5344CB8AC3E}">
        <p14:creationId xmlns:p14="http://schemas.microsoft.com/office/powerpoint/2010/main" val="36474952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34C5E-28C6-CDA0-9C05-787DC60DEB66}"/>
              </a:ext>
            </a:extLst>
          </p:cNvPr>
          <p:cNvSpPr>
            <a:spLocks noGrp="1"/>
          </p:cNvSpPr>
          <p:nvPr>
            <p:ph type="title"/>
          </p:nvPr>
        </p:nvSpPr>
        <p:spPr>
          <a:xfrm>
            <a:off x="685801" y="606986"/>
            <a:ext cx="10131425" cy="1458882"/>
          </a:xfrm>
        </p:spPr>
        <p:txBody>
          <a:bodyPr>
            <a:normAutofit/>
          </a:bodyPr>
          <a:lstStyle/>
          <a:p>
            <a:r>
              <a:rPr lang="en-US" sz="4000" b="1" dirty="0"/>
              <a:t>FACTORS THAT AFFECT RESOURCE SELECTION</a:t>
            </a:r>
            <a:endParaRPr lang="en-PH" sz="4000" b="1" dirty="0"/>
          </a:p>
        </p:txBody>
      </p:sp>
      <p:sp>
        <p:nvSpPr>
          <p:cNvPr id="3" name="Content Placeholder 2">
            <a:extLst>
              <a:ext uri="{FF2B5EF4-FFF2-40B4-BE49-F238E27FC236}">
                <a16:creationId xmlns:a16="http://schemas.microsoft.com/office/drawing/2014/main" id="{5CB8EE5D-681C-85A5-FC93-0E9488E7E084}"/>
              </a:ext>
            </a:extLst>
          </p:cNvPr>
          <p:cNvSpPr>
            <a:spLocks noGrp="1"/>
          </p:cNvSpPr>
          <p:nvPr>
            <p:ph idx="1"/>
          </p:nvPr>
        </p:nvSpPr>
        <p:spPr>
          <a:xfrm>
            <a:off x="685801" y="1891553"/>
            <a:ext cx="10131425" cy="4359461"/>
          </a:xfrm>
        </p:spPr>
        <p:txBody>
          <a:bodyPr>
            <a:normAutofit/>
          </a:bodyPr>
          <a:lstStyle/>
          <a:p>
            <a:pPr marL="0" indent="0">
              <a:buNone/>
            </a:pPr>
            <a:r>
              <a:rPr lang="en-US" sz="3300" b="1" dirty="0"/>
              <a:t>Number of Participants</a:t>
            </a:r>
          </a:p>
          <a:p>
            <a:pPr marL="0" indent="0">
              <a:buNone/>
            </a:pPr>
            <a:r>
              <a:rPr lang="en-US" sz="3300" dirty="0"/>
              <a:t>The number of participants in your care will also affect the</a:t>
            </a:r>
          </a:p>
          <a:p>
            <a:pPr marL="0" indent="0">
              <a:buNone/>
            </a:pPr>
            <a:r>
              <a:rPr lang="en-US" sz="3300" dirty="0"/>
              <a:t>number and style of resources you use. If your class is small, you will not need as many resources as you will for a larger class. However, variety and creativity are important, and you need to provide as many experiences for your class as is feasible.</a:t>
            </a:r>
            <a:endParaRPr lang="en-PH" sz="3300" dirty="0"/>
          </a:p>
        </p:txBody>
      </p:sp>
    </p:spTree>
    <p:extLst>
      <p:ext uri="{BB962C8B-B14F-4D97-AF65-F5344CB8AC3E}">
        <p14:creationId xmlns:p14="http://schemas.microsoft.com/office/powerpoint/2010/main" val="25884140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34C5E-28C6-CDA0-9C05-787DC60DEB66}"/>
              </a:ext>
            </a:extLst>
          </p:cNvPr>
          <p:cNvSpPr>
            <a:spLocks noGrp="1"/>
          </p:cNvSpPr>
          <p:nvPr>
            <p:ph type="title"/>
          </p:nvPr>
        </p:nvSpPr>
        <p:spPr>
          <a:xfrm>
            <a:off x="685801" y="606986"/>
            <a:ext cx="10131425" cy="1458882"/>
          </a:xfrm>
        </p:spPr>
        <p:txBody>
          <a:bodyPr>
            <a:normAutofit/>
          </a:bodyPr>
          <a:lstStyle/>
          <a:p>
            <a:r>
              <a:rPr lang="en-US" sz="4000" b="1" dirty="0"/>
              <a:t>FACTORS THAT AFFECT RESOURCE SELECTION</a:t>
            </a:r>
            <a:endParaRPr lang="en-PH" sz="4000" b="1" dirty="0"/>
          </a:p>
        </p:txBody>
      </p:sp>
      <p:sp>
        <p:nvSpPr>
          <p:cNvPr id="3" name="Content Placeholder 2">
            <a:extLst>
              <a:ext uri="{FF2B5EF4-FFF2-40B4-BE49-F238E27FC236}">
                <a16:creationId xmlns:a16="http://schemas.microsoft.com/office/drawing/2014/main" id="{5CB8EE5D-681C-85A5-FC93-0E9488E7E084}"/>
              </a:ext>
            </a:extLst>
          </p:cNvPr>
          <p:cNvSpPr>
            <a:spLocks noGrp="1"/>
          </p:cNvSpPr>
          <p:nvPr>
            <p:ph idx="1"/>
          </p:nvPr>
        </p:nvSpPr>
        <p:spPr>
          <a:xfrm>
            <a:off x="685801" y="1891553"/>
            <a:ext cx="10131425" cy="4966447"/>
          </a:xfrm>
        </p:spPr>
        <p:txBody>
          <a:bodyPr>
            <a:noAutofit/>
          </a:bodyPr>
          <a:lstStyle/>
          <a:p>
            <a:pPr marL="0" indent="0">
              <a:buNone/>
            </a:pPr>
            <a:r>
              <a:rPr lang="en-US" sz="3300" b="1" dirty="0"/>
              <a:t>Qualifications and Experience</a:t>
            </a:r>
          </a:p>
          <a:p>
            <a:pPr marL="0" indent="0">
              <a:buNone/>
            </a:pPr>
            <a:r>
              <a:rPr lang="en-US" sz="3300" dirty="0"/>
              <a:t>If you have been assigned to teach a class, your choice and selection of resources will probably reflect your experience in the teaching area. If you are a new teacher, you may be unsure just where to start! You may need to call on more experienced teachers and get their guidance and help. Ask them, as resource people, to take some segments for you. A qualified schoolteacher might help you select materials.</a:t>
            </a:r>
            <a:endParaRPr lang="en-PH" sz="3300" dirty="0"/>
          </a:p>
        </p:txBody>
      </p:sp>
    </p:spTree>
    <p:extLst>
      <p:ext uri="{BB962C8B-B14F-4D97-AF65-F5344CB8AC3E}">
        <p14:creationId xmlns:p14="http://schemas.microsoft.com/office/powerpoint/2010/main" val="7677650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34C5E-28C6-CDA0-9C05-787DC60DEB66}"/>
              </a:ext>
            </a:extLst>
          </p:cNvPr>
          <p:cNvSpPr>
            <a:spLocks noGrp="1"/>
          </p:cNvSpPr>
          <p:nvPr>
            <p:ph type="title"/>
          </p:nvPr>
        </p:nvSpPr>
        <p:spPr>
          <a:xfrm>
            <a:off x="685801" y="606986"/>
            <a:ext cx="10131425" cy="1458882"/>
          </a:xfrm>
        </p:spPr>
        <p:txBody>
          <a:bodyPr>
            <a:normAutofit/>
          </a:bodyPr>
          <a:lstStyle/>
          <a:p>
            <a:r>
              <a:rPr lang="en-PH" sz="4000" b="1" dirty="0"/>
              <a:t>DEVELOPING TEACHING RESOURCES </a:t>
            </a:r>
          </a:p>
        </p:txBody>
      </p:sp>
      <p:sp>
        <p:nvSpPr>
          <p:cNvPr id="3" name="Content Placeholder 2">
            <a:extLst>
              <a:ext uri="{FF2B5EF4-FFF2-40B4-BE49-F238E27FC236}">
                <a16:creationId xmlns:a16="http://schemas.microsoft.com/office/drawing/2014/main" id="{5CB8EE5D-681C-85A5-FC93-0E9488E7E084}"/>
              </a:ext>
            </a:extLst>
          </p:cNvPr>
          <p:cNvSpPr>
            <a:spLocks noGrp="1"/>
          </p:cNvSpPr>
          <p:nvPr>
            <p:ph idx="1"/>
          </p:nvPr>
        </p:nvSpPr>
        <p:spPr>
          <a:xfrm>
            <a:off x="685801" y="1891554"/>
            <a:ext cx="10131425" cy="4724400"/>
          </a:xfrm>
        </p:spPr>
        <p:txBody>
          <a:bodyPr>
            <a:normAutofit fontScale="92500"/>
          </a:bodyPr>
          <a:lstStyle/>
          <a:p>
            <a:pPr marL="0" indent="0">
              <a:buNone/>
            </a:pPr>
            <a:r>
              <a:rPr lang="en-US" sz="3600" dirty="0"/>
              <a:t>Individual class requirements and honors form a part of a </a:t>
            </a:r>
            <a:r>
              <a:rPr lang="en-US" sz="3600" dirty="0">
                <a:solidFill>
                  <a:srgbClr val="FF0000"/>
                </a:solidFill>
              </a:rPr>
              <a:t>total package </a:t>
            </a:r>
            <a:r>
              <a:rPr lang="en-US" sz="3600" dirty="0"/>
              <a:t>of information and experiences designed to encourage participants to develop their </a:t>
            </a:r>
            <a:r>
              <a:rPr lang="en-US" sz="3600" dirty="0">
                <a:solidFill>
                  <a:srgbClr val="FF0000"/>
                </a:solidFill>
              </a:rPr>
              <a:t>full potential</a:t>
            </a:r>
            <a:r>
              <a:rPr lang="en-US" sz="3600" dirty="0"/>
              <a:t>. Each requirement generally allows for a variety of teaching methods. However, teachers </a:t>
            </a:r>
            <a:r>
              <a:rPr lang="en-US" sz="3600" dirty="0">
                <a:solidFill>
                  <a:srgbClr val="FFFF00"/>
                </a:solidFill>
              </a:rPr>
              <a:t>need not feel restricted in teaching the requirements</a:t>
            </a:r>
            <a:r>
              <a:rPr lang="en-US" sz="3600" dirty="0"/>
              <a:t>. A good teacher will evaluate the requirement, class, venue, and other factors, and then choose the most effective teaching method, including the use of appropriate teaching aids.</a:t>
            </a:r>
            <a:endParaRPr lang="en-PH" sz="3600" dirty="0"/>
          </a:p>
        </p:txBody>
      </p:sp>
    </p:spTree>
    <p:extLst>
      <p:ext uri="{BB962C8B-B14F-4D97-AF65-F5344CB8AC3E}">
        <p14:creationId xmlns:p14="http://schemas.microsoft.com/office/powerpoint/2010/main" val="11688740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34C5E-28C6-CDA0-9C05-787DC60DEB66}"/>
              </a:ext>
            </a:extLst>
          </p:cNvPr>
          <p:cNvSpPr>
            <a:spLocks noGrp="1"/>
          </p:cNvSpPr>
          <p:nvPr>
            <p:ph type="title"/>
          </p:nvPr>
        </p:nvSpPr>
        <p:spPr>
          <a:xfrm>
            <a:off x="685801" y="606986"/>
            <a:ext cx="10131425" cy="1458882"/>
          </a:xfrm>
        </p:spPr>
        <p:txBody>
          <a:bodyPr>
            <a:normAutofit/>
          </a:bodyPr>
          <a:lstStyle/>
          <a:p>
            <a:r>
              <a:rPr lang="en-PH" sz="4000" b="1" dirty="0"/>
              <a:t>DEVELOPING TEACHING RESOURCES </a:t>
            </a:r>
          </a:p>
        </p:txBody>
      </p:sp>
      <p:sp>
        <p:nvSpPr>
          <p:cNvPr id="3" name="Content Placeholder 2">
            <a:extLst>
              <a:ext uri="{FF2B5EF4-FFF2-40B4-BE49-F238E27FC236}">
                <a16:creationId xmlns:a16="http://schemas.microsoft.com/office/drawing/2014/main" id="{5CB8EE5D-681C-85A5-FC93-0E9488E7E084}"/>
              </a:ext>
            </a:extLst>
          </p:cNvPr>
          <p:cNvSpPr>
            <a:spLocks noGrp="1"/>
          </p:cNvSpPr>
          <p:nvPr>
            <p:ph idx="1"/>
          </p:nvPr>
        </p:nvSpPr>
        <p:spPr>
          <a:xfrm>
            <a:off x="685801" y="1891554"/>
            <a:ext cx="10131425" cy="4724400"/>
          </a:xfrm>
        </p:spPr>
        <p:txBody>
          <a:bodyPr>
            <a:normAutofit/>
          </a:bodyPr>
          <a:lstStyle/>
          <a:p>
            <a:pPr marL="0" indent="0">
              <a:buNone/>
            </a:pPr>
            <a:r>
              <a:rPr lang="en-US" sz="3600" dirty="0">
                <a:solidFill>
                  <a:srgbClr val="FF0000"/>
                </a:solidFill>
              </a:rPr>
              <a:t>Teachers</a:t>
            </a:r>
            <a:r>
              <a:rPr lang="en-US" sz="3600" dirty="0"/>
              <a:t> need to be aware of the value in developing effective teaching resources that they can use to assist them in completing the requirements. They need to assess what they have on hand, what they can call on, and what they may need to find in order to meet their needs. A variety of teaching resources and teaching methods encourages wholistic development.</a:t>
            </a:r>
            <a:endParaRPr lang="en-PH" sz="3600" dirty="0"/>
          </a:p>
        </p:txBody>
      </p:sp>
    </p:spTree>
    <p:extLst>
      <p:ext uri="{BB962C8B-B14F-4D97-AF65-F5344CB8AC3E}">
        <p14:creationId xmlns:p14="http://schemas.microsoft.com/office/powerpoint/2010/main" val="33724581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34C5E-28C6-CDA0-9C05-787DC60DEB66}"/>
              </a:ext>
            </a:extLst>
          </p:cNvPr>
          <p:cNvSpPr>
            <a:spLocks noGrp="1"/>
          </p:cNvSpPr>
          <p:nvPr>
            <p:ph type="title"/>
          </p:nvPr>
        </p:nvSpPr>
        <p:spPr>
          <a:xfrm>
            <a:off x="685801" y="606986"/>
            <a:ext cx="10131425" cy="1458882"/>
          </a:xfrm>
        </p:spPr>
        <p:txBody>
          <a:bodyPr>
            <a:normAutofit/>
          </a:bodyPr>
          <a:lstStyle/>
          <a:p>
            <a:r>
              <a:rPr lang="en-PH" sz="4000" b="1" dirty="0"/>
              <a:t>Sample Online </a:t>
            </a:r>
            <a:r>
              <a:rPr lang="en-PH" sz="4000" b="1" dirty="0" err="1"/>
              <a:t>Rersources</a:t>
            </a:r>
            <a:endParaRPr lang="en-PH" sz="4000" b="1" dirty="0"/>
          </a:p>
        </p:txBody>
      </p:sp>
      <p:sp>
        <p:nvSpPr>
          <p:cNvPr id="3" name="Content Placeholder 2">
            <a:extLst>
              <a:ext uri="{FF2B5EF4-FFF2-40B4-BE49-F238E27FC236}">
                <a16:creationId xmlns:a16="http://schemas.microsoft.com/office/drawing/2014/main" id="{5CB8EE5D-681C-85A5-FC93-0E9488E7E084}"/>
              </a:ext>
            </a:extLst>
          </p:cNvPr>
          <p:cNvSpPr>
            <a:spLocks noGrp="1"/>
          </p:cNvSpPr>
          <p:nvPr>
            <p:ph idx="1"/>
          </p:nvPr>
        </p:nvSpPr>
        <p:spPr>
          <a:xfrm>
            <a:off x="685801" y="1891554"/>
            <a:ext cx="10131425" cy="4724400"/>
          </a:xfrm>
        </p:spPr>
        <p:txBody>
          <a:bodyPr>
            <a:normAutofit fontScale="47500" lnSpcReduction="20000"/>
          </a:bodyPr>
          <a:lstStyle/>
          <a:p>
            <a:pPr marL="0" indent="0">
              <a:buNone/>
            </a:pPr>
            <a:r>
              <a:rPr lang="en-US" sz="3600" dirty="0">
                <a:solidFill>
                  <a:srgbClr val="FFFF00"/>
                </a:solidFill>
              </a:rPr>
              <a:t>ARTICLE SAMPLES:</a:t>
            </a:r>
          </a:p>
          <a:p>
            <a:pPr marL="0" indent="0">
              <a:buNone/>
            </a:pPr>
            <a:r>
              <a:rPr lang="en-US" sz="3600" dirty="0">
                <a:solidFill>
                  <a:srgbClr val="FFFF00"/>
                </a:solidFill>
              </a:rPr>
              <a:t>• Salvation: Helping Your Students Embrace God’s Grace, by Donna J. </a:t>
            </a:r>
            <a:r>
              <a:rPr lang="en-US" sz="3600" dirty="0" err="1">
                <a:solidFill>
                  <a:srgbClr val="FFFF00"/>
                </a:solidFill>
              </a:rPr>
              <a:t>Habenicht</a:t>
            </a:r>
            <a:r>
              <a:rPr lang="en-US" sz="3600" dirty="0">
                <a:solidFill>
                  <a:srgbClr val="FFFF00"/>
                </a:solidFill>
              </a:rPr>
              <a:t> and  Larry Burton. http://circle.adventist.org/files/jae/en/jae200366021407.pdf</a:t>
            </a:r>
          </a:p>
          <a:p>
            <a:pPr marL="0" indent="0">
              <a:buNone/>
            </a:pPr>
            <a:r>
              <a:rPr lang="en-US" sz="3600" dirty="0">
                <a:solidFill>
                  <a:srgbClr val="FFFF00"/>
                </a:solidFill>
              </a:rPr>
              <a:t>• Donna J. </a:t>
            </a:r>
            <a:r>
              <a:rPr lang="en-US" sz="3600" dirty="0" err="1">
                <a:solidFill>
                  <a:srgbClr val="FFFF00"/>
                </a:solidFill>
              </a:rPr>
              <a:t>Habenicht</a:t>
            </a:r>
            <a:r>
              <a:rPr lang="en-US" sz="3600" dirty="0">
                <a:solidFill>
                  <a:srgbClr val="FFFF00"/>
                </a:solidFill>
              </a:rPr>
              <a:t> and Larry Burton. “Connecting Children With God Through Prayer and Worship,” Journal of Adventist Education, Oct/Nov 2004, pp. 9-10. http://circle.</a:t>
            </a:r>
          </a:p>
          <a:p>
            <a:pPr marL="0" indent="0">
              <a:buNone/>
            </a:pPr>
            <a:r>
              <a:rPr lang="en-US" sz="3600" dirty="0">
                <a:solidFill>
                  <a:srgbClr val="FFFF00"/>
                </a:solidFill>
              </a:rPr>
              <a:t>adventist.org/files/jae/</a:t>
            </a:r>
            <a:r>
              <a:rPr lang="en-US" sz="3600" dirty="0" err="1">
                <a:solidFill>
                  <a:srgbClr val="FFFF00"/>
                </a:solidFill>
              </a:rPr>
              <a:t>en</a:t>
            </a:r>
            <a:r>
              <a:rPr lang="en-US" sz="3600" dirty="0">
                <a:solidFill>
                  <a:srgbClr val="FFFF00"/>
                </a:solidFill>
              </a:rPr>
              <a:t>/jae200467010506.pdfhttp://circle.adventist.org/files/jae/</a:t>
            </a:r>
            <a:r>
              <a:rPr lang="en-US" sz="3600" dirty="0" err="1">
                <a:solidFill>
                  <a:srgbClr val="FFFF00"/>
                </a:solidFill>
              </a:rPr>
              <a:t>en</a:t>
            </a:r>
            <a:r>
              <a:rPr lang="en-US" sz="3600" dirty="0">
                <a:solidFill>
                  <a:srgbClr val="FFFF00"/>
                </a:solidFill>
              </a:rPr>
              <a:t>/ jae200467010506.pdf</a:t>
            </a:r>
          </a:p>
          <a:p>
            <a:pPr marL="0" indent="0">
              <a:buNone/>
            </a:pPr>
            <a:r>
              <a:rPr lang="en-US" sz="3600" dirty="0">
                <a:solidFill>
                  <a:srgbClr val="FFFF00"/>
                </a:solidFill>
              </a:rPr>
              <a:t>• </a:t>
            </a:r>
            <a:r>
              <a:rPr lang="en-US" sz="3600" dirty="0" err="1">
                <a:solidFill>
                  <a:srgbClr val="FFFF00"/>
                </a:solidFill>
              </a:rPr>
              <a:t>SalStudents</a:t>
            </a:r>
            <a:r>
              <a:rPr lang="en-US" sz="3600" dirty="0">
                <a:solidFill>
                  <a:srgbClr val="FFFF00"/>
                </a:solidFill>
              </a:rPr>
              <a:t> Tell the World. Developed by Atlantic Union Conference – North American Division. https://atlantic-union.org/education/students-tell-the-world/</a:t>
            </a:r>
          </a:p>
          <a:p>
            <a:pPr marL="0" indent="0">
              <a:buNone/>
            </a:pPr>
            <a:r>
              <a:rPr lang="en-US" sz="3600" dirty="0">
                <a:solidFill>
                  <a:srgbClr val="FFFF00"/>
                </a:solidFill>
              </a:rPr>
              <a:t>• The Faith Shaper Guide to God Encounters, by Julie </a:t>
            </a:r>
            <a:r>
              <a:rPr lang="en-US" sz="3600" dirty="0" err="1">
                <a:solidFill>
                  <a:srgbClr val="FFFF00"/>
                </a:solidFill>
              </a:rPr>
              <a:t>Weslake</a:t>
            </a:r>
            <a:r>
              <a:rPr lang="en-US" sz="3600" dirty="0">
                <a:solidFill>
                  <a:srgbClr val="FFFF00"/>
                </a:solidFill>
              </a:rPr>
              <a:t>. Produced by The South Pacific Division Children’s Ministry Department. </a:t>
            </a:r>
            <a:r>
              <a:rPr lang="en-US" sz="3600" dirty="0">
                <a:solidFill>
                  <a:srgbClr val="FFFF00"/>
                </a:solidFill>
                <a:hlinkClick r:id="rId2">
                  <a:extLst>
                    <a:ext uri="{A12FA001-AC4F-418D-AE19-62706E023703}">
                      <ahyp:hlinkClr xmlns:ahyp="http://schemas.microsoft.com/office/drawing/2018/hyperlinkcolor" val="tx"/>
                    </a:ext>
                  </a:extLst>
                </a:hlinkClick>
              </a:rPr>
              <a:t>https://cdn.disciple.org.au/wp-content/uploads/2018/06/05152451/God_Encounters_Booklet.pdf</a:t>
            </a:r>
            <a:endParaRPr lang="en-US" sz="3600" dirty="0">
              <a:solidFill>
                <a:srgbClr val="FFFF00"/>
              </a:solidFill>
            </a:endParaRPr>
          </a:p>
          <a:p>
            <a:pPr marL="0" indent="0">
              <a:buNone/>
            </a:pPr>
            <a:r>
              <a:rPr lang="en-US" sz="3600" dirty="0">
                <a:solidFill>
                  <a:srgbClr val="FFFF00"/>
                </a:solidFill>
              </a:rPr>
              <a:t>• Ellen White and Children. Developed by Adventist Children’s Ministries, General Conference of Seventh-day</a:t>
            </a:r>
          </a:p>
          <a:p>
            <a:pPr marL="0" indent="0">
              <a:buNone/>
            </a:pPr>
            <a:r>
              <a:rPr lang="en-US" sz="3600" dirty="0">
                <a:solidFill>
                  <a:srgbClr val="FFFF00"/>
                </a:solidFill>
              </a:rPr>
              <a:t>Adventists. https://children.adventist.org/ellen-white-andchildren</a:t>
            </a:r>
          </a:p>
          <a:p>
            <a:pPr marL="0" indent="0">
              <a:buNone/>
            </a:pPr>
            <a:r>
              <a:rPr lang="en-US" sz="3600" dirty="0">
                <a:solidFill>
                  <a:srgbClr val="FFFF00"/>
                </a:solidFill>
              </a:rPr>
              <a:t>• Evangelistic Parenting. Developed by Adventist Family Ministries, General Conference of Seventh-day Adventists. https://family.adventist.org/evangelistic-parenting/</a:t>
            </a:r>
            <a:endParaRPr lang="en-PH" sz="3600" dirty="0">
              <a:solidFill>
                <a:srgbClr val="FFFF00"/>
              </a:solidFill>
            </a:endParaRPr>
          </a:p>
        </p:txBody>
      </p:sp>
    </p:spTree>
    <p:extLst>
      <p:ext uri="{BB962C8B-B14F-4D97-AF65-F5344CB8AC3E}">
        <p14:creationId xmlns:p14="http://schemas.microsoft.com/office/powerpoint/2010/main" val="16015800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34C5E-28C6-CDA0-9C05-787DC60DEB66}"/>
              </a:ext>
            </a:extLst>
          </p:cNvPr>
          <p:cNvSpPr>
            <a:spLocks noGrp="1"/>
          </p:cNvSpPr>
          <p:nvPr>
            <p:ph type="title"/>
          </p:nvPr>
        </p:nvSpPr>
        <p:spPr>
          <a:xfrm>
            <a:off x="685801" y="606986"/>
            <a:ext cx="10131425" cy="1458882"/>
          </a:xfrm>
        </p:spPr>
        <p:txBody>
          <a:bodyPr>
            <a:normAutofit/>
          </a:bodyPr>
          <a:lstStyle/>
          <a:p>
            <a:r>
              <a:rPr lang="en-PH" sz="4000" b="1" dirty="0"/>
              <a:t>Sample Online </a:t>
            </a:r>
            <a:r>
              <a:rPr lang="en-PH" sz="4000" b="1" dirty="0" err="1"/>
              <a:t>Rersources</a:t>
            </a:r>
            <a:endParaRPr lang="en-PH" sz="4000" b="1" dirty="0"/>
          </a:p>
        </p:txBody>
      </p:sp>
      <p:sp>
        <p:nvSpPr>
          <p:cNvPr id="3" name="Content Placeholder 2">
            <a:extLst>
              <a:ext uri="{FF2B5EF4-FFF2-40B4-BE49-F238E27FC236}">
                <a16:creationId xmlns:a16="http://schemas.microsoft.com/office/drawing/2014/main" id="{5CB8EE5D-681C-85A5-FC93-0E9488E7E084}"/>
              </a:ext>
            </a:extLst>
          </p:cNvPr>
          <p:cNvSpPr>
            <a:spLocks noGrp="1"/>
          </p:cNvSpPr>
          <p:nvPr>
            <p:ph idx="1"/>
          </p:nvPr>
        </p:nvSpPr>
        <p:spPr>
          <a:xfrm>
            <a:off x="685801" y="1891554"/>
            <a:ext cx="10131425" cy="4724400"/>
          </a:xfrm>
        </p:spPr>
        <p:txBody>
          <a:bodyPr>
            <a:normAutofit fontScale="85000" lnSpcReduction="20000"/>
          </a:bodyPr>
          <a:lstStyle/>
          <a:p>
            <a:pPr marL="0" indent="0">
              <a:buNone/>
            </a:pPr>
            <a:r>
              <a:rPr lang="en-US" sz="3600" dirty="0">
                <a:solidFill>
                  <a:srgbClr val="FFFF00"/>
                </a:solidFill>
              </a:rPr>
              <a:t>• GC Children’s Ministries: https://children.adventist.org/handbook </a:t>
            </a:r>
          </a:p>
          <a:p>
            <a:pPr marL="0" indent="0">
              <a:buNone/>
            </a:pPr>
            <a:r>
              <a:rPr lang="en-US" sz="3600" dirty="0">
                <a:solidFill>
                  <a:srgbClr val="FFFF00"/>
                </a:solidFill>
              </a:rPr>
              <a:t>• Programs and Activities for Children: https://children.adventist.org/child-min-handbook-chapter8.pdf</a:t>
            </a:r>
          </a:p>
          <a:p>
            <a:pPr marL="0" indent="0">
              <a:buNone/>
            </a:pPr>
            <a:r>
              <a:rPr lang="en-US" sz="3600" dirty="0">
                <a:solidFill>
                  <a:srgbClr val="FFFF00"/>
                </a:solidFill>
              </a:rPr>
              <a:t>• Activity Book for Steps to Jesus: https://www.faithfinders.com/steps-to-christ-activity-book.pdf</a:t>
            </a:r>
          </a:p>
          <a:p>
            <a:pPr marL="0" indent="0">
              <a:buNone/>
            </a:pPr>
            <a:r>
              <a:rPr lang="en-US" sz="3600" dirty="0">
                <a:solidFill>
                  <a:srgbClr val="FFFF00"/>
                </a:solidFill>
              </a:rPr>
              <a:t>• Simplified baptismal vows: https://children.adventist.org/child-min-handbook-chapter9.pdf</a:t>
            </a:r>
            <a:endParaRPr lang="en-PH" sz="3600" dirty="0">
              <a:solidFill>
                <a:srgbClr val="FFFF00"/>
              </a:solidFill>
            </a:endParaRPr>
          </a:p>
        </p:txBody>
      </p:sp>
    </p:spTree>
    <p:extLst>
      <p:ext uri="{BB962C8B-B14F-4D97-AF65-F5344CB8AC3E}">
        <p14:creationId xmlns:p14="http://schemas.microsoft.com/office/powerpoint/2010/main" val="17891644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34C5E-28C6-CDA0-9C05-787DC60DEB66}"/>
              </a:ext>
            </a:extLst>
          </p:cNvPr>
          <p:cNvSpPr>
            <a:spLocks noGrp="1"/>
          </p:cNvSpPr>
          <p:nvPr>
            <p:ph type="title"/>
          </p:nvPr>
        </p:nvSpPr>
        <p:spPr>
          <a:xfrm>
            <a:off x="685801" y="606986"/>
            <a:ext cx="10131425" cy="1458882"/>
          </a:xfrm>
        </p:spPr>
        <p:txBody>
          <a:bodyPr>
            <a:normAutofit/>
          </a:bodyPr>
          <a:lstStyle/>
          <a:p>
            <a:r>
              <a:rPr lang="en-PH" sz="4000" b="1" dirty="0"/>
              <a:t>Sample Online </a:t>
            </a:r>
            <a:r>
              <a:rPr lang="en-PH" sz="4000" b="1" dirty="0" err="1"/>
              <a:t>Rersources</a:t>
            </a:r>
            <a:endParaRPr lang="en-PH" sz="4000" b="1" dirty="0"/>
          </a:p>
        </p:txBody>
      </p:sp>
      <p:sp>
        <p:nvSpPr>
          <p:cNvPr id="3" name="Content Placeholder 2">
            <a:extLst>
              <a:ext uri="{FF2B5EF4-FFF2-40B4-BE49-F238E27FC236}">
                <a16:creationId xmlns:a16="http://schemas.microsoft.com/office/drawing/2014/main" id="{5CB8EE5D-681C-85A5-FC93-0E9488E7E084}"/>
              </a:ext>
            </a:extLst>
          </p:cNvPr>
          <p:cNvSpPr>
            <a:spLocks noGrp="1"/>
          </p:cNvSpPr>
          <p:nvPr>
            <p:ph idx="1"/>
          </p:nvPr>
        </p:nvSpPr>
        <p:spPr>
          <a:xfrm>
            <a:off x="685801" y="1891554"/>
            <a:ext cx="10131425" cy="4724400"/>
          </a:xfrm>
        </p:spPr>
        <p:txBody>
          <a:bodyPr>
            <a:normAutofit/>
          </a:bodyPr>
          <a:lstStyle/>
          <a:p>
            <a:pPr marL="0" indent="0">
              <a:buNone/>
            </a:pPr>
            <a:r>
              <a:rPr lang="en-PH" sz="3600" dirty="0">
                <a:hlinkClick r:id="rId2"/>
              </a:rPr>
              <a:t>Pathfinder Wiki (pathfindersonline.org)</a:t>
            </a:r>
            <a:endParaRPr lang="en-PH" sz="3600" dirty="0">
              <a:solidFill>
                <a:srgbClr val="FFFF00"/>
              </a:solidFill>
            </a:endParaRPr>
          </a:p>
        </p:txBody>
      </p:sp>
    </p:spTree>
    <p:extLst>
      <p:ext uri="{BB962C8B-B14F-4D97-AF65-F5344CB8AC3E}">
        <p14:creationId xmlns:p14="http://schemas.microsoft.com/office/powerpoint/2010/main" val="320098959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{600B4E3C-42B8-49F8-8BF3-6F5B805D2FB1}tf03457452</Template>
  <TotalTime>125</TotalTime>
  <Words>790</Words>
  <Application>Microsoft Office PowerPoint</Application>
  <PresentationFormat>Widescreen</PresentationFormat>
  <Paragraphs>42</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Celestial</vt:lpstr>
      <vt:lpstr>RESOURCES FOR CREATIVE INSTRUCTION</vt:lpstr>
      <vt:lpstr>WHAT YOUR PARTICIPANTS WILL LEARN</vt:lpstr>
      <vt:lpstr>PowerPoint Presentation</vt:lpstr>
      <vt:lpstr>FACTORS THAT AFFECT RESOURCE SELECTION</vt:lpstr>
      <vt:lpstr>FACTORS THAT AFFECT RESOURCE SELECTION</vt:lpstr>
      <vt:lpstr>FACTORS THAT AFFECT RESOURCE SELECTION</vt:lpstr>
      <vt:lpstr>FACTORS THAT AFFECT RESOURCE SELECTION</vt:lpstr>
      <vt:lpstr>DEVELOPING TEACHING RESOURCES </vt:lpstr>
      <vt:lpstr>DEVELOPING TEACHING RESOURCES </vt:lpstr>
      <vt:lpstr>Sample Online Rersources</vt:lpstr>
      <vt:lpstr>Sample Online Rersources</vt:lpstr>
      <vt:lpstr>Sample Online Rersources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RESOURCES FOR CREATIVE INSTRUCTION</dc:title>
  <dc:creator>raenel manangan</dc:creator>
  <cp:lastModifiedBy>raenel manangan</cp:lastModifiedBy>
  <cp:revision>1</cp:revision>
  <dcterms:created xsi:type="dcterms:W3CDTF">2024-03-06T11:11:45Z</dcterms:created>
  <dcterms:modified xsi:type="dcterms:W3CDTF">2024-03-06T13:17:38Z</dcterms:modified>
</cp:coreProperties>
</file>